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52" r:id="rId1"/>
    <p:sldMasterId id="2147483853" r:id="rId2"/>
  </p:sldMasterIdLst>
  <p:notesMasterIdLst>
    <p:notesMasterId r:id="rId34"/>
  </p:notesMasterIdLst>
  <p:sldIdLst>
    <p:sldId id="260" r:id="rId3"/>
    <p:sldId id="258" r:id="rId4"/>
    <p:sldId id="259" r:id="rId5"/>
    <p:sldId id="261" r:id="rId6"/>
    <p:sldId id="265" r:id="rId7"/>
    <p:sldId id="266" r:id="rId8"/>
    <p:sldId id="288" r:id="rId9"/>
    <p:sldId id="257" r:id="rId10"/>
    <p:sldId id="264" r:id="rId11"/>
    <p:sldId id="268" r:id="rId12"/>
    <p:sldId id="262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3" r:id="rId26"/>
    <p:sldId id="284" r:id="rId27"/>
    <p:sldId id="285" r:id="rId28"/>
    <p:sldId id="286" r:id="rId29"/>
    <p:sldId id="287" r:id="rId30"/>
    <p:sldId id="263" r:id="rId31"/>
    <p:sldId id="282" r:id="rId32"/>
    <p:sldId id="281" r:id="rId33"/>
  </p:sldIdLst>
  <p:sldSz cx="9907588" cy="6858000"/>
  <p:notesSz cx="6670675" cy="9928225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/>
        <a:ea typeface="맑은 고딕"/>
        <a:cs typeface="+mn-cs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/>
        <a:ea typeface="맑은 고딕"/>
        <a:cs typeface="+mn-cs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/>
        <a:ea typeface="맑은 고딕"/>
        <a:cs typeface="+mn-cs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/>
        <a:ea typeface="맑은 고딕"/>
        <a:cs typeface="+mn-cs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sz="800" kern="1200">
        <a:solidFill>
          <a:schemeClr val="bg1"/>
        </a:solidFill>
        <a:latin typeface="맑은 고딕"/>
        <a:ea typeface="맑은 고딕"/>
        <a:cs typeface="+mn-cs"/>
      </a:defRPr>
    </a:lvl5pPr>
    <a:lvl6pPr marL="2286000" algn="l" defTabSz="914400" rtl="0" eaLnBrk="1" latinLnBrk="0" hangingPunct="1">
      <a:defRPr sz="800" kern="1200">
        <a:solidFill>
          <a:schemeClr val="bg1"/>
        </a:solidFill>
        <a:latin typeface="맑은 고딕"/>
        <a:ea typeface="맑은 고딕"/>
        <a:cs typeface="+mn-cs"/>
      </a:defRPr>
    </a:lvl6pPr>
    <a:lvl7pPr marL="2743200" algn="l" defTabSz="914400" rtl="0" eaLnBrk="1" latinLnBrk="0" hangingPunct="1">
      <a:defRPr sz="800" kern="1200">
        <a:solidFill>
          <a:schemeClr val="bg1"/>
        </a:solidFill>
        <a:latin typeface="맑은 고딕"/>
        <a:ea typeface="맑은 고딕"/>
        <a:cs typeface="+mn-cs"/>
      </a:defRPr>
    </a:lvl7pPr>
    <a:lvl8pPr marL="3200400" algn="l" defTabSz="914400" rtl="0" eaLnBrk="1" latinLnBrk="0" hangingPunct="1">
      <a:defRPr sz="800" kern="1200">
        <a:solidFill>
          <a:schemeClr val="bg1"/>
        </a:solidFill>
        <a:latin typeface="맑은 고딕"/>
        <a:ea typeface="맑은 고딕"/>
        <a:cs typeface="+mn-cs"/>
      </a:defRPr>
    </a:lvl8pPr>
    <a:lvl9pPr marL="3657600" algn="l" defTabSz="914400" rtl="0" eaLnBrk="1" latinLnBrk="0" hangingPunct="1">
      <a:defRPr sz="800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>
        <p:scale>
          <a:sx n="125" d="100"/>
          <a:sy n="125" d="100"/>
        </p:scale>
        <p:origin x="-72" y="-1190"/>
      </p:cViewPr>
      <p:guideLst>
        <p:guide orient="horz" pos="2159"/>
        <p:guide pos="2880"/>
      </p:guideLst>
    </p:cSldViewPr>
  </p:slideViewPr>
  <p:outlineViewPr>
    <p:cViewPr varScale="1">
      <p:scale>
        <a:sx n="170" d="200"/>
        <a:sy n="170" d="2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AutoShape 1"/>
          <p:cNvSpPr>
            <a:spLocks noChangeArrowheads="1"/>
          </p:cNvSpPr>
          <p:nvPr/>
        </p:nvSpPr>
        <p:spPr>
          <a:xfrm>
            <a:off x="0" y="0"/>
            <a:ext cx="6670675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/>
              <a:buNone/>
              <a:defRPr/>
            </a:pPr>
            <a:endParaRPr lang="ko-KR" altLang="en-US"/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>
          <a:xfrm>
            <a:off x="0" y="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/>
              <a:buNone/>
              <a:defRPr/>
            </a:pPr>
            <a:endParaRPr lang="ko-KR" altLang="en-US"/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>
          <a:xfrm>
            <a:off x="3778250" y="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4101" name="Rectangle 4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5275" cy="3721100"/>
          </a:xfrm>
          <a:prstGeom prst="rect">
            <a:avLst/>
          </a:prstGeom>
          <a:noFill/>
          <a:ln w="9360" cap="sq">
            <a:solidFill>
              <a:srgbClr val="000000"/>
            </a:solidFill>
            <a:miter/>
          </a:ln>
          <a:effectLst/>
        </p:spPr>
      </p:sp>
      <p:sp>
        <p:nvSpPr>
          <p:cNvPr id="3" name="Rectangle 5"/>
          <p:cNvSpPr>
            <a:spLocks noGrp="1" noChangeArrowheads="1"/>
          </p:cNvSpPr>
          <p:nvPr>
            <p:ph type="body"/>
          </p:nvPr>
        </p:nvSpPr>
        <p:spPr>
          <a:xfrm>
            <a:off x="666750" y="4716463"/>
            <a:ext cx="5334000" cy="4465637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9999" tIns="46800" rIns="89999" bIns="46800" anchor="t" anchorCtr="0">
            <a:prstTxWarp prst="textNoShape">
              <a:avLst/>
            </a:prstTxWarp>
          </a:bodyPr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103" name="Text Box 6"/>
          <p:cNvSpPr txBox="1">
            <a:spLocks noChangeArrowheads="1"/>
          </p:cNvSpPr>
          <p:nvPr/>
        </p:nvSpPr>
        <p:spPr>
          <a:xfrm>
            <a:off x="0" y="9429750"/>
            <a:ext cx="2889250" cy="49688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/>
              <a:buNone/>
              <a:defRPr/>
            </a:pPr>
            <a:endParaRPr lang="ko-KR" altLang="en-US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/>
          </p:nvPr>
        </p:nvSpPr>
        <p:spPr>
          <a:xfrm>
            <a:off x="3778250" y="9429750"/>
            <a:ext cx="2887663" cy="4953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89999" tIns="46800" rIns="89999" bIns="46800" anchor="b" anchorCtr="0">
            <a:prstTxWarp prst="textNoShape">
              <a:avLst/>
            </a:prstTxWarp>
          </a:bodyPr>
          <a:lstStyle>
            <a:lvl1pPr algn="r" eaLnBrk="1" hangingPunct="1">
              <a:buClrTx/>
              <a:buSzPct val="100000"/>
              <a:buFontTx/>
              <a:buNone/>
              <a:tabLst>
                <a:tab pos="723900" algn="l"/>
                <a:tab pos="1447800" algn="l"/>
                <a:tab pos="2171700" algn="l"/>
              </a:tabLst>
              <a:defRPr sz="1200" smtClean="0">
                <a:solidFill>
                  <a:srgbClr val="000000"/>
                </a:solidFill>
                <a:latin typeface="굴림"/>
                <a:ea typeface="굴림"/>
              </a:defRPr>
            </a:lvl1pPr>
          </a:lstStyle>
          <a:p>
            <a:pPr>
              <a:defRPr/>
            </a:pPr>
            <a:fld id="{9ADB3FDB-566F-4732-B7FD-2566E7CFC03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/>
      <a:defRPr sz="1200" kern="1200">
        <a:solidFill>
          <a:srgbClr val="000000"/>
        </a:solidFill>
        <a:latin typeface="Times New Roman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/>
      <a:defRPr sz="1200" kern="1200">
        <a:solidFill>
          <a:srgbClr val="000000"/>
        </a:solidFill>
        <a:latin typeface="Times New Roman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/>
      <a:defRPr sz="1200" kern="1200">
        <a:solidFill>
          <a:srgbClr val="000000"/>
        </a:solidFill>
        <a:latin typeface="Times New Roman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/>
      <a:defRPr sz="1200" kern="1200">
        <a:solidFill>
          <a:srgbClr val="000000"/>
        </a:solidFill>
        <a:latin typeface="Times New Roman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/>
      <a:defRPr sz="1200" kern="1200">
        <a:solidFill>
          <a:srgbClr val="000000"/>
        </a:solidFill>
        <a:latin typeface="Times New Roman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4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5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8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9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11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12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13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14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15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24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1024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16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24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1024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10243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A74053-42F5-49E0-ABBB-395CB8B4A85F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17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10244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10245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18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19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20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21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22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23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3"/>
          <p:cNvSpPr>
            <a:spLocks noGrp="1" noChangeArrowheads="1"/>
          </p:cNvSpPr>
          <p:nvPr>
            <p:ph type="dt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ko-KR" altLang="ko-KR" sz="1200">
                <a:solidFill>
                  <a:srgbClr val="000000"/>
                </a:solidFill>
                <a:latin typeface="굴림"/>
                <a:ea typeface="굴림"/>
              </a:rPr>
              <a:t>20年 1月 15日</a:t>
            </a:r>
          </a:p>
        </p:txBody>
      </p:sp>
      <p:sp>
        <p:nvSpPr>
          <p:cNvPr id="8195" name="Rectangle 7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723900" algn="l"/>
                <a:tab pos="1447800" algn="l"/>
                <a:tab pos="21717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fld id="{32E70555-6B0B-4F14-A061-F3A830D492DC}" type="slidenum">
              <a:rPr lang="en-US" altLang="ko-KR" sz="1200">
                <a:solidFill>
                  <a:srgbClr val="000000"/>
                </a:solidFill>
                <a:latin typeface="굴림"/>
                <a:ea typeface="굴림"/>
              </a:rPr>
              <a:pPr>
                <a:buClrTx/>
                <a:buFontTx/>
                <a:buNone/>
                <a:defRPr/>
              </a:pPr>
              <a:t>29</a:t>
            </a:fld>
            <a:endParaRPr lang="en-US" altLang="ko-KR" sz="1200">
              <a:solidFill>
                <a:srgbClr val="000000"/>
              </a:solidFill>
              <a:latin typeface="굴림"/>
              <a:ea typeface="굴림"/>
            </a:endParaRPr>
          </a:p>
        </p:txBody>
      </p:sp>
      <p:sp>
        <p:nvSpPr>
          <p:cNvPr id="8196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646113" y="744538"/>
            <a:ext cx="5376862" cy="3722687"/>
          </a:xfrm>
          <a:solidFill>
            <a:srgbClr val="FFFFFF"/>
          </a:solidFill>
          <a:ln/>
        </p:spPr>
      </p:sp>
      <p:sp>
        <p:nvSpPr>
          <p:cNvPr id="8197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666750" y="4716463"/>
            <a:ext cx="5335588" cy="4467225"/>
          </a:xfrm>
          <a:noFill/>
        </p:spPr>
        <p:txBody>
          <a:bodyPr wrap="none" anchor="ctr"/>
          <a:lstStyle/>
          <a:p>
            <a:pPr lvl="0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/>
          </p:nvPr>
        </p:nvSpPr>
        <p:spPr/>
        <p:txBody>
          <a:bodyPr/>
          <a:lstStyle/>
          <a:p>
            <a:pPr>
              <a:defRPr/>
            </a:pPr>
            <a:r>
              <a:rPr lang="ko-KR" altLang="ko-KR"/>
              <a:t>20年 1月 15日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>
              <a:defRPr/>
            </a:pPr>
            <a:fld id="{9ADB3FDB-566F-4732-B7FD-2566E7CFC039}" type="slidenum">
              <a:rPr lang="en-US" altLang="ko-KR"/>
              <a:pPr>
                <a:defRPr/>
              </a:pPr>
              <a:t>30</a:t>
            </a:fld>
            <a:endParaRPr lang="en-US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31088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3108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27376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074873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76275" y="1709738"/>
            <a:ext cx="8545513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76275" y="4589463"/>
            <a:ext cx="8545513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2577738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734175" y="9525"/>
            <a:ext cx="1370013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256588" y="9525"/>
            <a:ext cx="1371600" cy="30321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54063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365125"/>
            <a:ext cx="8545513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82625" y="1681163"/>
            <a:ext cx="419100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82625" y="2505075"/>
            <a:ext cx="419100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16500" y="1681163"/>
            <a:ext cx="421163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16500" y="2505075"/>
            <a:ext cx="421163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04779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65794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15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47314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82625" y="457200"/>
            <a:ext cx="319563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4211638" y="987425"/>
            <a:ext cx="50165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82625" y="2057400"/>
            <a:ext cx="31956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53182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593108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267575" y="1588"/>
            <a:ext cx="2360613" cy="3444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0975" y="1588"/>
            <a:ext cx="6934200" cy="3444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4085180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B848A0B-D5A9-4F56-972C-5283F04993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9525"/>
            <a:ext cx="9907588" cy="687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810018" y="2357430"/>
            <a:ext cx="6249402" cy="533400"/>
          </a:xfrm>
          <a:noFill/>
          <a:ln>
            <a:noFill/>
          </a:ln>
        </p:spPr>
        <p:txBody>
          <a:bodyPr/>
          <a:lstStyle>
            <a:lvl1pPr algn="ctr">
              <a:defRPr sz="26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810603" y="3714752"/>
            <a:ext cx="2438791" cy="457200"/>
          </a:xfrm>
        </p:spPr>
        <p:txBody>
          <a:bodyPr/>
          <a:lstStyle>
            <a:lvl1pPr marL="0" indent="0" algn="ctr">
              <a:defRPr sz="1200">
                <a:latin typeface="HY견고딕" pitchFamily="18" charset="-127"/>
                <a:ea typeface="HY견고딕" pitchFamily="18" charset="-127"/>
              </a:defRPr>
            </a:lvl1pPr>
          </a:lstStyle>
          <a:p>
            <a:r>
              <a:rPr lang="ko-KR" altLang="en-US" dirty="0"/>
              <a:t>마스터 부제목 스타일 편집</a:t>
            </a:r>
            <a:endParaRPr lang="ko-KR" altLang="ko-KR" dirty="0"/>
          </a:p>
        </p:txBody>
      </p:sp>
    </p:spTree>
    <p:extLst>
      <p:ext uri="{BB962C8B-B14F-4D97-AF65-F5344CB8AC3E}">
        <p14:creationId xmlns:p14="http://schemas.microsoft.com/office/powerpoint/2010/main" val="32121347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3269D546-B781-4CCB-A910-9B28EEF769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4" name="Picture 18" descr="top">
            <a:extLst>
              <a:ext uri="{FF2B5EF4-FFF2-40B4-BE49-F238E27FC236}">
                <a16:creationId xmlns:a16="http://schemas.microsoft.com/office/drawing/2014/main" id="{6E53BD8A-8962-465B-BF0B-115AAB675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19">
            <a:extLst>
              <a:ext uri="{FF2B5EF4-FFF2-40B4-BE49-F238E27FC236}">
                <a16:creationId xmlns:a16="http://schemas.microsoft.com/office/drawing/2014/main" id="{849E0CF7-95BB-4D6A-8C99-DB281BCEEA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fld id="{AC670D85-2395-4FF2-98C1-029832FE9153}" type="slidenum">
              <a:rPr kumimoji="1" lang="ko-KR" altLang="en-US" sz="900" b="1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algn="ctr" eaLnBrk="1" latinLnBrk="1" hangingPunct="1"/>
              <a:t>‹#›</a:t>
            </a:fld>
            <a:endParaRPr kumimoji="1" lang="en-US" altLang="ko-KR" sz="9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graphicFrame>
        <p:nvGraphicFramePr>
          <p:cNvPr id="6" name="Group 522">
            <a:extLst>
              <a:ext uri="{FF2B5EF4-FFF2-40B4-BE49-F238E27FC236}">
                <a16:creationId xmlns:a16="http://schemas.microsoft.com/office/drawing/2014/main" id="{1427F447-A7AB-4EA0-B57A-A0B9FD82F4F1}"/>
              </a:ext>
            </a:extLst>
          </p:cNvPr>
          <p:cNvGraphicFramePr>
            <a:graphicFrameLocks noGrp="1"/>
          </p:cNvGraphicFramePr>
          <p:nvPr/>
        </p:nvGraphicFramePr>
        <p:xfrm>
          <a:off x="38106" y="639763"/>
          <a:ext cx="9812325" cy="5851578"/>
        </p:xfrm>
        <a:graphic>
          <a:graphicData uri="http://schemas.openxmlformats.org/drawingml/2006/table">
            <a:tbl>
              <a:tblPr/>
              <a:tblGrid>
                <a:gridCol w="1008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15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08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1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159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999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42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5575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3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교육관리 시스템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(LMS)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황기현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4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2019.08.15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05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763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Table In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28219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1">
            <a:extLst>
              <a:ext uri="{FF2B5EF4-FFF2-40B4-BE49-F238E27FC236}">
                <a16:creationId xmlns:a16="http://schemas.microsoft.com/office/drawing/2014/main" id="{91880116-4336-40BA-AFD9-4181122A6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2200" y="76200"/>
            <a:ext cx="3352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3075" name="Picture 2">
            <a:extLst>
              <a:ext uri="{FF2B5EF4-FFF2-40B4-BE49-F238E27FC236}">
                <a16:creationId xmlns:a16="http://schemas.microsoft.com/office/drawing/2014/main" id="{4749CD56-191D-4457-AF58-FDDC057B70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6000" cy="66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3">
            <a:extLst>
              <a:ext uri="{FF2B5EF4-FFF2-40B4-BE49-F238E27FC236}">
                <a16:creationId xmlns:a16="http://schemas.microsoft.com/office/drawing/2014/main" id="{A5816A29-34DA-4D76-A993-041CF36BB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2500" y="6616700"/>
            <a:ext cx="381000" cy="228600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txBody>
          <a:bodyPr lIns="90000" tIns="46800" rIns="90000" bIns="46800"/>
          <a:lstStyle>
            <a:lvl1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buSzPct val="100000"/>
              <a:defRPr/>
            </a:pPr>
            <a:fld id="{42C61E19-037B-4CB6-9D74-FD168F95FBB3}" type="slidenum">
              <a:rPr lang="ko-KR" altLang="ko-KR" sz="900" b="1" smtClean="0">
                <a:solidFill>
                  <a:srgbClr val="FFFFFF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pPr algn="ctr" eaLnBrk="1" hangingPunct="1">
                <a:buSzPct val="100000"/>
                <a:defRPr/>
              </a:pPr>
              <a:t>‹#›</a:t>
            </a:fld>
            <a:endParaRPr lang="ko-KR" altLang="ko-KR" sz="900" b="1">
              <a:solidFill>
                <a:srgbClr val="FFFFFF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grpSp>
        <p:nvGrpSpPr>
          <p:cNvPr id="3077" name="Group 4">
            <a:extLst>
              <a:ext uri="{FF2B5EF4-FFF2-40B4-BE49-F238E27FC236}">
                <a16:creationId xmlns:a16="http://schemas.microsoft.com/office/drawing/2014/main" id="{646DADB0-74F8-415A-9B4B-E8A4C8522F60}"/>
              </a:ext>
            </a:extLst>
          </p:cNvPr>
          <p:cNvGrpSpPr>
            <a:grpSpLocks/>
          </p:cNvGrpSpPr>
          <p:nvPr/>
        </p:nvGrpSpPr>
        <p:grpSpPr bwMode="auto">
          <a:xfrm>
            <a:off x="38100" y="639763"/>
            <a:ext cx="9809163" cy="5849937"/>
            <a:chOff x="24" y="403"/>
            <a:chExt cx="6179" cy="3685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B3FD68D6-D5FB-45DE-84C9-EF886B2F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403"/>
              <a:ext cx="634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프로젝트 명</a:t>
              </a:r>
            </a:p>
          </p:txBody>
        </p:sp>
        <p:sp>
          <p:nvSpPr>
            <p:cNvPr id="4" name="Rectangle 6">
              <a:extLst>
                <a:ext uri="{FF2B5EF4-FFF2-40B4-BE49-F238E27FC236}">
                  <a16:creationId xmlns:a16="http://schemas.microsoft.com/office/drawing/2014/main" id="{614614A0-A9D4-4365-A42F-45DAEDFA6F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403"/>
              <a:ext cx="951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SCM</a:t>
              </a:r>
              <a:r>
                <a:rPr lang="en-US" altLang="ko-KR" baseline="0" dirty="0">
                  <a:solidFill>
                    <a:srgbClr val="000000"/>
                  </a:solidFill>
                </a:rPr>
                <a:t> </a:t>
              </a:r>
              <a:r>
                <a:rPr lang="ko-KR" altLang="en-US" baseline="0" dirty="0">
                  <a:solidFill>
                    <a:srgbClr val="000000"/>
                  </a:solidFill>
                </a:rPr>
                <a:t>시스템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" name="Rectangle 7">
              <a:extLst>
                <a:ext uri="{FF2B5EF4-FFF2-40B4-BE49-F238E27FC236}">
                  <a16:creationId xmlns:a16="http://schemas.microsoft.com/office/drawing/2014/main" id="{7211B82B-2E52-4691-8815-343F76FCCC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403"/>
              <a:ext cx="45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화면명</a:t>
              </a:r>
            </a:p>
          </p:txBody>
        </p:sp>
        <p:sp>
          <p:nvSpPr>
            <p:cNvPr id="3083" name="Rectangle 8">
              <a:extLst>
                <a:ext uri="{FF2B5EF4-FFF2-40B4-BE49-F238E27FC236}">
                  <a16:creationId xmlns:a16="http://schemas.microsoft.com/office/drawing/2014/main" id="{16705E81-2791-4B1C-94E2-4E5A37688D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403"/>
              <a:ext cx="1813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1" name="Rectangle 9">
              <a:extLst>
                <a:ext uri="{FF2B5EF4-FFF2-40B4-BE49-F238E27FC236}">
                  <a16:creationId xmlns:a16="http://schemas.microsoft.com/office/drawing/2014/main" id="{76ACDA46-C106-4FB3-A469-9FD240E698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403"/>
              <a:ext cx="359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버젼</a:t>
              </a:r>
            </a:p>
          </p:txBody>
        </p:sp>
        <p:sp>
          <p:nvSpPr>
            <p:cNvPr id="3082" name="Rectangle 10">
              <a:extLst>
                <a:ext uri="{FF2B5EF4-FFF2-40B4-BE49-F238E27FC236}">
                  <a16:creationId xmlns:a16="http://schemas.microsoft.com/office/drawing/2014/main" id="{29DF0145-4579-4A70-A788-20DD0CF113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403"/>
              <a:ext cx="377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V1.0</a:t>
              </a:r>
            </a:p>
          </p:txBody>
        </p:sp>
        <p:sp>
          <p:nvSpPr>
            <p:cNvPr id="6" name="Rectangle 11">
              <a:extLst>
                <a:ext uri="{FF2B5EF4-FFF2-40B4-BE49-F238E27FC236}">
                  <a16:creationId xmlns:a16="http://schemas.microsoft.com/office/drawing/2014/main" id="{D5E1E307-2409-4942-84A1-1B8DF2A3D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403"/>
              <a:ext cx="543" cy="133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작성자</a:t>
              </a:r>
            </a:p>
          </p:txBody>
        </p:sp>
        <p:sp>
          <p:nvSpPr>
            <p:cNvPr id="3084" name="Rectangle 12">
              <a:extLst>
                <a:ext uri="{FF2B5EF4-FFF2-40B4-BE49-F238E27FC236}">
                  <a16:creationId xmlns:a16="http://schemas.microsoft.com/office/drawing/2014/main" id="{9D3E63D7-9CBA-4E33-B777-487BDA678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403"/>
              <a:ext cx="1042" cy="1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en-US" dirty="0" err="1">
                  <a:solidFill>
                    <a:srgbClr val="000000"/>
                  </a:solidFill>
                </a:rPr>
                <a:t>유미르</a:t>
              </a:r>
              <a:endParaRPr lang="ko-KR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085" name="Rectangle 13">
              <a:extLst>
                <a:ext uri="{FF2B5EF4-FFF2-40B4-BE49-F238E27FC236}">
                  <a16:creationId xmlns:a16="http://schemas.microsoft.com/office/drawing/2014/main" id="{0C1B70A2-D178-4052-8D74-23007ED05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537"/>
              <a:ext cx="634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분류명</a:t>
              </a:r>
            </a:p>
          </p:txBody>
        </p:sp>
        <p:sp>
          <p:nvSpPr>
            <p:cNvPr id="3089" name="Rectangle 14">
              <a:extLst>
                <a:ext uri="{FF2B5EF4-FFF2-40B4-BE49-F238E27FC236}">
                  <a16:creationId xmlns:a16="http://schemas.microsoft.com/office/drawing/2014/main" id="{C31D3127-1E48-40F4-A0D3-5DA2228BF9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9" y="537"/>
              <a:ext cx="951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87" name="Rectangle 15">
              <a:extLst>
                <a:ext uri="{FF2B5EF4-FFF2-40B4-BE49-F238E27FC236}">
                  <a16:creationId xmlns:a16="http://schemas.microsoft.com/office/drawing/2014/main" id="{F08797AB-160E-403C-A4A3-8CE53FF1F5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11" y="537"/>
              <a:ext cx="45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</a:t>
              </a:r>
              <a:r>
                <a:rPr lang="ko-KR" altLang="ko-KR">
                  <a:solidFill>
                    <a:srgbClr val="FFFFFF"/>
                  </a:solidFill>
                </a:rPr>
                <a:t>명</a:t>
              </a:r>
            </a:p>
          </p:txBody>
        </p:sp>
        <p:sp>
          <p:nvSpPr>
            <p:cNvPr id="3091" name="Rectangle 16">
              <a:extLst>
                <a:ext uri="{FF2B5EF4-FFF2-40B4-BE49-F238E27FC236}">
                  <a16:creationId xmlns:a16="http://schemas.microsoft.com/office/drawing/2014/main" id="{30D4E12B-5E09-45CB-8E3A-4BBF8F3BF7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5" y="537"/>
              <a:ext cx="1813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" name="Rectangle 17">
              <a:extLst>
                <a:ext uri="{FF2B5EF4-FFF2-40B4-BE49-F238E27FC236}">
                  <a16:creationId xmlns:a16="http://schemas.microsoft.com/office/drawing/2014/main" id="{8C7130DF-376C-45F3-B781-9E80ACBDC0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79" y="537"/>
              <a:ext cx="359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P.NO</a:t>
              </a:r>
            </a:p>
          </p:txBody>
        </p:sp>
        <p:sp>
          <p:nvSpPr>
            <p:cNvPr id="3093" name="Rectangle 18">
              <a:extLst>
                <a:ext uri="{FF2B5EF4-FFF2-40B4-BE49-F238E27FC236}">
                  <a16:creationId xmlns:a16="http://schemas.microsoft.com/office/drawing/2014/main" id="{9E8933E4-DA22-42A1-9D00-7A50818363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9" y="537"/>
              <a:ext cx="377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8" name="Rectangle 19">
              <a:extLst>
                <a:ext uri="{FF2B5EF4-FFF2-40B4-BE49-F238E27FC236}">
                  <a16:creationId xmlns:a16="http://schemas.microsoft.com/office/drawing/2014/main" id="{D89502DC-D0DD-4D91-8BDC-68677CC503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537"/>
              <a:ext cx="543" cy="136"/>
            </a:xfrm>
            <a:prstGeom prst="rect">
              <a:avLst/>
            </a:prstGeom>
            <a:solidFill>
              <a:srgbClr val="595959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SzPct val="100000"/>
                <a:defRPr/>
              </a:pPr>
              <a:r>
                <a:rPr lang="ko-KR" altLang="ko-KR">
                  <a:solidFill>
                    <a:srgbClr val="FFFFFF"/>
                  </a:solidFill>
                </a:rPr>
                <a:t>작성날짜</a:t>
              </a:r>
            </a:p>
          </p:txBody>
        </p:sp>
        <p:sp>
          <p:nvSpPr>
            <p:cNvPr id="3092" name="Rectangle 20">
              <a:extLst>
                <a:ext uri="{FF2B5EF4-FFF2-40B4-BE49-F238E27FC236}">
                  <a16:creationId xmlns:a16="http://schemas.microsoft.com/office/drawing/2014/main" id="{8BA261E0-3E81-458B-8672-63D4A21278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61" y="537"/>
              <a:ext cx="1042" cy="13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 dirty="0">
                  <a:solidFill>
                    <a:srgbClr val="000000"/>
                  </a:solidFill>
                </a:rPr>
                <a:t>2020.07.07</a:t>
              </a:r>
            </a:p>
          </p:txBody>
        </p:sp>
        <p:sp>
          <p:nvSpPr>
            <p:cNvPr id="3096" name="Rectangle 21">
              <a:extLst>
                <a:ext uri="{FF2B5EF4-FFF2-40B4-BE49-F238E27FC236}">
                  <a16:creationId xmlns:a16="http://schemas.microsoft.com/office/drawing/2014/main" id="{AF0795C6-145B-4FBB-A77B-D62A527D91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" y="674"/>
              <a:ext cx="4592" cy="34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3094" name="Rectangle 22">
              <a:extLst>
                <a:ext uri="{FF2B5EF4-FFF2-40B4-BE49-F238E27FC236}">
                  <a16:creationId xmlns:a16="http://schemas.microsoft.com/office/drawing/2014/main" id="{7007670F-5478-4461-B8EF-C892355CB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674"/>
              <a:ext cx="1586" cy="146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Description</a:t>
              </a:r>
            </a:p>
          </p:txBody>
        </p:sp>
        <p:sp>
          <p:nvSpPr>
            <p:cNvPr id="3095" name="Rectangle 23">
              <a:extLst>
                <a:ext uri="{FF2B5EF4-FFF2-40B4-BE49-F238E27FC236}">
                  <a16:creationId xmlns:a16="http://schemas.microsoft.com/office/drawing/2014/main" id="{43784CDB-2F17-41C7-BF29-74234207FF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821"/>
              <a:ext cx="1586" cy="326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90000" rIns="90000"/>
            <a:lstStyle>
              <a:lvl1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rgbClr val="A6A6A6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Table In</a:t>
              </a: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endParaRPr lang="en-US" altLang="ko-KR">
                <a:solidFill>
                  <a:srgbClr val="FFFFFF"/>
                </a:solidFill>
              </a:endParaRPr>
            </a:p>
            <a:p>
              <a:pPr eaLnBrk="1" hangingPunct="1">
                <a:spcBef>
                  <a:spcPts val="200"/>
                </a:spcBef>
                <a:buSzPct val="100000"/>
                <a:defRPr/>
              </a:pPr>
              <a:r>
                <a:rPr lang="en-US" altLang="ko-KR">
                  <a:solidFill>
                    <a:srgbClr val="FFFFFF"/>
                  </a:solidFill>
                </a:rPr>
                <a:t>Formation</a:t>
              </a:r>
            </a:p>
          </p:txBody>
        </p:sp>
        <p:sp>
          <p:nvSpPr>
            <p:cNvPr id="3099" name="Line 24">
              <a:extLst>
                <a:ext uri="{FF2B5EF4-FFF2-40B4-BE49-F238E27FC236}">
                  <a16:creationId xmlns:a16="http://schemas.microsoft.com/office/drawing/2014/main" id="{025CC732-FA4A-431E-90C4-C5F881A2C4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0" name="Line 25">
              <a:extLst>
                <a:ext uri="{FF2B5EF4-FFF2-40B4-BE49-F238E27FC236}">
                  <a16:creationId xmlns:a16="http://schemas.microsoft.com/office/drawing/2014/main" id="{D2A7C52A-9DAD-493D-9546-86379B049D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1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1" name="Line 26">
              <a:extLst>
                <a:ext uri="{FF2B5EF4-FFF2-40B4-BE49-F238E27FC236}">
                  <a16:creationId xmlns:a16="http://schemas.microsoft.com/office/drawing/2014/main" id="{369336A8-C1AE-4DA2-B677-A722270215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65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2" name="Line 27">
              <a:extLst>
                <a:ext uri="{FF2B5EF4-FFF2-40B4-BE49-F238E27FC236}">
                  <a16:creationId xmlns:a16="http://schemas.microsoft.com/office/drawing/2014/main" id="{86DBC5D4-4152-4DC6-B0F8-F70830A9F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7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3" name="Line 28">
              <a:extLst>
                <a:ext uri="{FF2B5EF4-FFF2-40B4-BE49-F238E27FC236}">
                  <a16:creationId xmlns:a16="http://schemas.microsoft.com/office/drawing/2014/main" id="{2367859F-540C-4C93-AF02-7057BCD142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9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4" name="Line 29">
              <a:extLst>
                <a:ext uri="{FF2B5EF4-FFF2-40B4-BE49-F238E27FC236}">
                  <a16:creationId xmlns:a16="http://schemas.microsoft.com/office/drawing/2014/main" id="{EF3C278F-6883-4FB8-8040-2E637CAB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5" name="Line 30">
              <a:extLst>
                <a:ext uri="{FF2B5EF4-FFF2-40B4-BE49-F238E27FC236}">
                  <a16:creationId xmlns:a16="http://schemas.microsoft.com/office/drawing/2014/main" id="{40D57C76-BBDF-42B4-825D-EBE050669A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1" y="403"/>
              <a:ext cx="0" cy="27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6" name="Line 31">
              <a:extLst>
                <a:ext uri="{FF2B5EF4-FFF2-40B4-BE49-F238E27FC236}">
                  <a16:creationId xmlns:a16="http://schemas.microsoft.com/office/drawing/2014/main" id="{B6B8275A-A9BA-42C4-ACC1-99D5AC2BE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537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7" name="Line 32">
              <a:extLst>
                <a:ext uri="{FF2B5EF4-FFF2-40B4-BE49-F238E27FC236}">
                  <a16:creationId xmlns:a16="http://schemas.microsoft.com/office/drawing/2014/main" id="{308E0350-2A3F-4D92-BB12-90234F77A1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674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8" name="Line 33">
              <a:extLst>
                <a:ext uri="{FF2B5EF4-FFF2-40B4-BE49-F238E27FC236}">
                  <a16:creationId xmlns:a16="http://schemas.microsoft.com/office/drawing/2014/main" id="{FAE74E66-8F2A-419A-851C-9D2F59A68F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821"/>
              <a:ext cx="1586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09" name="Line 34">
              <a:extLst>
                <a:ext uri="{FF2B5EF4-FFF2-40B4-BE49-F238E27FC236}">
                  <a16:creationId xmlns:a16="http://schemas.microsoft.com/office/drawing/2014/main" id="{F7985180-ACC9-474F-9EB2-E9717EED7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0" name="Line 35">
              <a:extLst>
                <a:ext uri="{FF2B5EF4-FFF2-40B4-BE49-F238E27FC236}">
                  <a16:creationId xmlns:a16="http://schemas.microsoft.com/office/drawing/2014/main" id="{F0C746D6-FA99-42F3-8211-0E89301E1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4" y="403"/>
              <a:ext cx="0" cy="3685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1" name="Line 36">
              <a:extLst>
                <a:ext uri="{FF2B5EF4-FFF2-40B4-BE49-F238E27FC236}">
                  <a16:creationId xmlns:a16="http://schemas.microsoft.com/office/drawing/2014/main" id="{DE420C61-DBDD-4571-943F-0F4BE8373B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3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12" name="Line 37">
              <a:extLst>
                <a:ext uri="{FF2B5EF4-FFF2-40B4-BE49-F238E27FC236}">
                  <a16:creationId xmlns:a16="http://schemas.microsoft.com/office/drawing/2014/main" id="{2E645303-D6AE-49EB-9260-E375A346E4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" y="4089"/>
              <a:ext cx="6179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078" name="Rectangle 38">
            <a:extLst>
              <a:ext uri="{FF2B5EF4-FFF2-40B4-BE49-F238E27FC236}">
                <a16:creationId xmlns:a16="http://schemas.microsoft.com/office/drawing/2014/main" id="{2067F81C-CDC9-47E4-86E5-4AB9BA5592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0975" y="1588"/>
            <a:ext cx="3455988" cy="34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/>
              <a:t>제목 텍스트의 서식을 편집하려면 클릭하십시오</a:t>
            </a:r>
            <a:r>
              <a:rPr lang="en-GB" altLang="ko-KR"/>
              <a:t>.</a:t>
            </a:r>
          </a:p>
        </p:txBody>
      </p:sp>
      <p:sp>
        <p:nvSpPr>
          <p:cNvPr id="3079" name="Rectangle 39">
            <a:extLst>
              <a:ext uri="{FF2B5EF4-FFF2-40B4-BE49-F238E27FC236}">
                <a16:creationId xmlns:a16="http://schemas.microsoft.com/office/drawing/2014/main" id="{B66791BB-511E-4EB9-B974-D964C3BAADB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013575" y="0"/>
            <a:ext cx="2894013" cy="303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GB" dirty="0"/>
              <a:t>개요 텍스트의 서식을 편집하려면 클릭하십시오</a:t>
            </a:r>
          </a:p>
          <a:p>
            <a:pPr lvl="1"/>
            <a:r>
              <a:rPr lang="en-GB" altLang="ko-KR" dirty="0"/>
              <a:t>2</a:t>
            </a:r>
            <a:r>
              <a:rPr lang="ko-KR" altLang="en-GB" dirty="0"/>
              <a:t>번째 개요 수준</a:t>
            </a:r>
          </a:p>
          <a:p>
            <a:pPr lvl="2"/>
            <a:r>
              <a:rPr lang="en-GB" altLang="ko-KR" dirty="0"/>
              <a:t>3</a:t>
            </a:r>
            <a:r>
              <a:rPr lang="ko-KR" altLang="en-GB" dirty="0"/>
              <a:t>번째 개요 수준</a:t>
            </a:r>
          </a:p>
          <a:p>
            <a:pPr lvl="3"/>
            <a:r>
              <a:rPr lang="en-GB" altLang="ko-KR" dirty="0"/>
              <a:t>4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5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6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7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8</a:t>
            </a:r>
            <a:r>
              <a:rPr lang="ko-KR" altLang="en-GB" dirty="0"/>
              <a:t>번째 개요 수준</a:t>
            </a:r>
          </a:p>
          <a:p>
            <a:pPr lvl="4"/>
            <a:r>
              <a:rPr lang="en-GB" altLang="ko-KR" dirty="0"/>
              <a:t>9</a:t>
            </a:r>
            <a:r>
              <a:rPr lang="ko-KR" altLang="en-GB" dirty="0"/>
              <a:t>번째 개요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 kern="1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2pPr>
      <a:lvl3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3pPr>
      <a:lvl4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4pPr>
      <a:lvl5pPr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5pPr>
      <a:lvl6pPr marL="25146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6pPr>
      <a:lvl7pPr marL="29718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7pPr>
      <a:lvl8pPr marL="34290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8pPr>
      <a:lvl9pPr marL="3886200" indent="-228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600">
          <a:solidFill>
            <a:srgbClr val="000000"/>
          </a:solidFill>
          <a:latin typeface="HY견고딕" panose="02030600000101010101" pitchFamily="18" charset="-127"/>
          <a:cs typeface="HY견고딕" panose="02030600000101010101" pitchFamily="18" charset="-127"/>
        </a:defRPr>
      </a:lvl9pPr>
    </p:titleStyle>
    <p:bodyStyle>
      <a:lvl1pPr marL="342900" indent="-342900" algn="r" defTabSz="449263" rtl="0" eaLnBrk="0" fontAlgn="base" hangingPunct="0">
        <a:spcBef>
          <a:spcPts val="35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1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8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000" kern="1200">
          <a:solidFill>
            <a:srgbClr val="000000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6">
            <a:extLst>
              <a:ext uri="{FF2B5EF4-FFF2-40B4-BE49-F238E27FC236}">
                <a16:creationId xmlns:a16="http://schemas.microsoft.com/office/drawing/2014/main" id="{F15C8622-7715-48EF-B28B-FB6DE0018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907588" cy="357188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wrap="none" anchor="ctr"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1" hangingPunct="1">
              <a:defRPr/>
            </a:pPr>
            <a:endParaRPr kumimoji="1" lang="ko-KR" altLang="en-US" sz="900">
              <a:solidFill>
                <a:schemeClr val="tx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027" name="Rectangle 2">
            <a:extLst>
              <a:ext uri="{FF2B5EF4-FFF2-40B4-BE49-F238E27FC236}">
                <a16:creationId xmlns:a16="http://schemas.microsoft.com/office/drawing/2014/main" id="{98584857-D68E-4BF3-BD19-2725A7DC55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81005" y="1589"/>
            <a:ext cx="3458129" cy="346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8" name="Rectangle 3">
            <a:extLst>
              <a:ext uri="{FF2B5EF4-FFF2-40B4-BE49-F238E27FC236}">
                <a16:creationId xmlns:a16="http://schemas.microsoft.com/office/drawing/2014/main" id="{A9BD2A85-CAB8-4A3B-A4EF-30EDC9DE60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735255" y="9525"/>
            <a:ext cx="2896064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ko-KR" altLang="ko-KR"/>
          </a:p>
        </p:txBody>
      </p:sp>
      <p:sp>
        <p:nvSpPr>
          <p:cNvPr id="1029" name="Text Box 62">
            <a:extLst>
              <a:ext uri="{FF2B5EF4-FFF2-40B4-BE49-F238E27FC236}">
                <a16:creationId xmlns:a16="http://schemas.microsoft.com/office/drawing/2014/main" id="{E6D21EED-23EE-4309-8887-F5F6A3A037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1932" y="6709732"/>
            <a:ext cx="4129750" cy="110800"/>
          </a:xfrm>
          <a:prstGeom prst="rect">
            <a:avLst/>
          </a:prstGeom>
          <a:noFill/>
          <a:ln>
            <a:noFill/>
          </a:ln>
        </p:spPr>
        <p:txBody>
          <a:bodyPr lIns="91430" tIns="0" rIns="91430" bIns="0" anchor="ctr">
            <a:spAutoFit/>
          </a:bodyPr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eaLnBrk="1" latinLnBrk="1" hangingPunct="1">
              <a:lnSpc>
                <a:spcPct val="80000"/>
              </a:lnSpc>
              <a:defRPr/>
            </a:pPr>
            <a:r>
              <a:rPr kumimoji="1" lang="en-US" altLang="ja-JP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All Rights Reserved </a:t>
            </a:r>
            <a:r>
              <a:rPr kumimoji="1" lang="ko-KR" altLang="en-US" sz="90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㈜환경과학기술</a:t>
            </a:r>
            <a:endParaRPr kumimoji="1" lang="en-US" altLang="ja-JP" sz="90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B6AA23-3935-4DFF-96D6-FC36C69FEA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2346" y="6624638"/>
            <a:ext cx="330580" cy="2229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68415" tIns="34208" rIns="68415" bIns="34208">
            <a:spAutoFit/>
          </a:bodyPr>
          <a:lstStyle>
            <a:lvl1pPr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 defTabSz="684213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684213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latinLnBrk="1" hangingPunct="1"/>
            <a:fld id="{E654F24B-91D5-453A-88EC-05B7302532D8}" type="slidenum">
              <a:rPr kumimoji="1" lang="ko-KR" altLang="en-US" sz="1000">
                <a:solidFill>
                  <a:schemeClr val="tx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pPr eaLnBrk="1" latinLnBrk="1" hangingPunct="1"/>
              <a:t>‹#›</a:t>
            </a:fld>
            <a:endParaRPr kumimoji="1" lang="en-US" altLang="ko-KR" sz="100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6BD50599-6313-4BD0-984A-5428107268F2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6613525"/>
            <a:ext cx="99075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/>
          <a:lstStyle/>
          <a:p>
            <a:pPr>
              <a:defRPr/>
            </a:pPr>
            <a:endParaRPr lang="ko-KR" altLang="en-US"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>
          <a:solidFill>
            <a:schemeClr val="tx1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1600">
          <a:solidFill>
            <a:schemeClr val="bg1"/>
          </a:solidFill>
          <a:latin typeface="HY울릉도M" pitchFamily="18" charset="-127"/>
          <a:ea typeface="HY울릉도M" pitchFamily="18" charset="-127"/>
        </a:defRPr>
      </a:lvl9pPr>
    </p:titleStyle>
    <p:bodyStyle>
      <a:lvl1pPr marL="342900" indent="-342900" algn="r" rtl="0" eaLnBrk="0" fontAlgn="base" latinLnBrk="1" hangingPunct="0">
        <a:spcBef>
          <a:spcPct val="20000"/>
        </a:spcBef>
        <a:spcAft>
          <a:spcPct val="0"/>
        </a:spcAft>
        <a:buChar char="•"/>
        <a:defRPr kumimoji="1" sz="1400">
          <a:solidFill>
            <a:schemeClr val="tx1"/>
          </a:solidFill>
          <a:latin typeface="HY견고딕" pitchFamily="18" charset="-127"/>
          <a:ea typeface="HY견고딕" pitchFamily="18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굴림" pitchFamily="50" charset="-127"/>
          <a:ea typeface="굴림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굴림" pitchFamily="50" charset="-127"/>
          <a:ea typeface="굴림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굴림" pitchFamily="50" charset="-127"/>
          <a:ea typeface="굴림" pitchFamily="50" charset="-127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407836" y="1129594"/>
            <a:ext cx="6461427" cy="5269139"/>
          </a:xfrm>
          <a:prstGeom prst="rect">
            <a:avLst/>
          </a:prstGeom>
        </p:spPr>
      </p:pic>
      <p:sp>
        <p:nvSpPr>
          <p:cNvPr id="7170" name="Text Box 1"/>
          <p:cNvSpPr txBox="1">
            <a:spLocks noChangeArrowheads="1"/>
          </p:cNvSpPr>
          <p:nvPr/>
        </p:nvSpPr>
        <p:spPr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n-US" altLang="ko-KR" sz="1600">
                <a:solidFill>
                  <a:srgbClr val="000000"/>
                </a:solidFill>
                <a:latin typeface="HY견고딕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1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2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3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0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4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5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1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7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8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3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4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0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573581" y="1958360"/>
            <a:ext cx="2276757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신규등록의 경우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콤보박스로 선택할 수 있게</a:t>
            </a:r>
          </a:p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수정의 경우</a:t>
            </a:r>
            <a:r>
              <a:rPr lang="en-US" altLang="ko-KR">
                <a:solidFill>
                  <a:schemeClr val="tx1"/>
                </a:solidFill>
              </a:rPr>
              <a:t>, </a:t>
            </a:r>
            <a:r>
              <a:rPr lang="ko-KR" altLang="en-US">
                <a:solidFill>
                  <a:schemeClr val="tx1"/>
                </a:solidFill>
              </a:rPr>
              <a:t>기업고객 혹은 내부직원을 표시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7570431" y="2606432"/>
            <a:ext cx="2261240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3" name="직사각형 82"/>
          <p:cNvSpPr/>
          <p:nvPr/>
        </p:nvSpPr>
        <p:spPr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기업고객 전용 항목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562529" y="3880480"/>
            <a:ext cx="2283817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7579847" y="4547984"/>
            <a:ext cx="2258597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내부직원 전용항목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입력창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입력창</a:t>
            </a:r>
          </a:p>
        </p:txBody>
      </p:sp>
      <p:sp>
        <p:nvSpPr>
          <p:cNvPr id="71" name="Oval 39"/>
          <p:cNvSpPr>
            <a:spLocks noChangeArrowheads="1"/>
          </p:cNvSpPr>
          <p:nvPr/>
        </p:nvSpPr>
        <p:spPr>
          <a:xfrm>
            <a:off x="4498096" y="1877510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1</a:t>
            </a:r>
          </a:p>
        </p:txBody>
      </p:sp>
      <p:sp>
        <p:nvSpPr>
          <p:cNvPr id="72" name="Text Box 2"/>
          <p:cNvSpPr txBox="1">
            <a:spLocks noChangeArrowheads="1"/>
          </p:cNvSpPr>
          <p:nvPr/>
        </p:nvSpPr>
        <p:spPr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ko-KR" altLang="en-US">
                <a:solidFill>
                  <a:srgbClr val="000000"/>
                </a:solidFill>
              </a:rPr>
              <a:t>기준정보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73" name="Text Box 3"/>
          <p:cNvSpPr txBox="1">
            <a:spLocks noChangeArrowheads="1"/>
          </p:cNvSpPr>
          <p:nvPr/>
        </p:nvSpPr>
        <p:spPr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ko-KR" altLang="en-US">
                <a:solidFill>
                  <a:srgbClr val="000000"/>
                </a:solidFill>
              </a:rPr>
              <a:t>기업 고객</a:t>
            </a:r>
            <a:r>
              <a:rPr lang="en-US" altLang="ko-KR">
                <a:solidFill>
                  <a:srgbClr val="000000"/>
                </a:solidFill>
              </a:rPr>
              <a:t>/</a:t>
            </a:r>
            <a:r>
              <a:rPr lang="ko-KR" altLang="en-US">
                <a:solidFill>
                  <a:srgbClr val="000000"/>
                </a:solidFill>
              </a:rPr>
              <a:t>직원정보 관리</a:t>
            </a:r>
            <a:r>
              <a:rPr lang="en-US" altLang="ko-KR">
                <a:solidFill>
                  <a:srgbClr val="000000"/>
                </a:solidFill>
              </a:rPr>
              <a:t>(</a:t>
            </a:r>
            <a:r>
              <a:rPr lang="ko-KR" altLang="en-US">
                <a:solidFill>
                  <a:srgbClr val="000000"/>
                </a:solidFill>
              </a:rPr>
              <a:t>등록</a:t>
            </a:r>
            <a:r>
              <a:rPr lang="en-US" altLang="ko-KR">
                <a:solidFill>
                  <a:srgbClr val="000000"/>
                </a:solidFill>
              </a:rPr>
              <a:t>,</a:t>
            </a:r>
            <a:r>
              <a:rPr lang="ko-KR" altLang="en-US">
                <a:solidFill>
                  <a:srgbClr val="000000"/>
                </a:solidFill>
              </a:rPr>
              <a:t>수정</a:t>
            </a:r>
            <a:r>
              <a:rPr lang="en-US" altLang="ko-KR">
                <a:solidFill>
                  <a:srgbClr val="000000"/>
                </a:solidFill>
              </a:rPr>
              <a:t>)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76" name="Text Box 4"/>
          <p:cNvSpPr txBox="1">
            <a:spLocks noChangeArrowheads="1"/>
          </p:cNvSpPr>
          <p:nvPr/>
        </p:nvSpPr>
        <p:spPr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en-US" altLang="ko-KR">
                <a:solidFill>
                  <a:srgbClr val="000000"/>
                </a:solidFill>
              </a:rPr>
              <a:t>UserInfo</a:t>
            </a:r>
          </a:p>
        </p:txBody>
      </p:sp>
      <p:sp>
        <p:nvSpPr>
          <p:cNvPr id="77" name="Text Box 16"/>
          <p:cNvSpPr txBox="1">
            <a:spLocks noChangeArrowheads="1"/>
          </p:cNvSpPr>
          <p:nvPr/>
        </p:nvSpPr>
        <p:spPr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ko-KR" altLang="en-US">
                <a:solidFill>
                  <a:schemeClr val="tx1"/>
                </a:solidFill>
              </a:rPr>
              <a:t>전광복</a:t>
            </a:r>
          </a:p>
        </p:txBody>
      </p:sp>
      <p:sp>
        <p:nvSpPr>
          <p:cNvPr id="80" name="직사각형 79"/>
          <p:cNvSpPr/>
          <p:nvPr/>
        </p:nvSpPr>
        <p:spPr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체크 시 목록에서 삭제된 정보도 표시</a:t>
            </a:r>
          </a:p>
        </p:txBody>
      </p:sp>
      <p:sp>
        <p:nvSpPr>
          <p:cNvPr id="81" name="Oval 41"/>
          <p:cNvSpPr>
            <a:spLocks noChangeArrowheads="1"/>
          </p:cNvSpPr>
          <p:nvPr/>
        </p:nvSpPr>
        <p:spPr>
          <a:xfrm>
            <a:off x="633314" y="4226612"/>
            <a:ext cx="215900" cy="22827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2</a:t>
            </a:r>
          </a:p>
        </p:txBody>
      </p:sp>
      <p:sp>
        <p:nvSpPr>
          <p:cNvPr id="82" name="Oval 41"/>
          <p:cNvSpPr>
            <a:spLocks noChangeArrowheads="1"/>
          </p:cNvSpPr>
          <p:nvPr/>
        </p:nvSpPr>
        <p:spPr>
          <a:xfrm>
            <a:off x="1558351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3</a:t>
            </a:r>
          </a:p>
        </p:txBody>
      </p:sp>
      <p:sp>
        <p:nvSpPr>
          <p:cNvPr id="78" name="Oval 41"/>
          <p:cNvSpPr>
            <a:spLocks noChangeArrowheads="1"/>
          </p:cNvSpPr>
          <p:nvPr/>
        </p:nvSpPr>
        <p:spPr>
          <a:xfrm>
            <a:off x="3922139" y="4528551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4</a:t>
            </a:r>
          </a:p>
        </p:txBody>
      </p:sp>
      <p:sp>
        <p:nvSpPr>
          <p:cNvPr id="88" name="Oval 41"/>
          <p:cNvSpPr>
            <a:spLocks noChangeArrowheads="1"/>
          </p:cNvSpPr>
          <p:nvPr/>
        </p:nvSpPr>
        <p:spPr>
          <a:xfrm>
            <a:off x="1558351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5</a:t>
            </a:r>
          </a:p>
        </p:txBody>
      </p:sp>
      <p:sp>
        <p:nvSpPr>
          <p:cNvPr id="89" name="Oval 41"/>
          <p:cNvSpPr>
            <a:spLocks noChangeArrowheads="1"/>
          </p:cNvSpPr>
          <p:nvPr/>
        </p:nvSpPr>
        <p:spPr>
          <a:xfrm>
            <a:off x="3922139" y="4964350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3157CBD-5609-4755-9553-62069EBC43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290" y="1099552"/>
            <a:ext cx="6477352" cy="6858000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0CD6372C-0288-4231-B267-1A985765BA6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" name="Rectangle 4">
              <a:extLst>
                <a:ext uri="{FF2B5EF4-FFF2-40B4-BE49-F238E27FC236}">
                  <a16:creationId xmlns:a16="http://schemas.microsoft.com/office/drawing/2014/main" id="{5FC63D76-12B5-4682-A7CB-2D025C5E73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8" name="Line 9">
              <a:extLst>
                <a:ext uri="{FF2B5EF4-FFF2-40B4-BE49-F238E27FC236}">
                  <a16:creationId xmlns:a16="http://schemas.microsoft.com/office/drawing/2014/main" id="{1A8AA187-EF02-4291-BC46-6C7516E062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0">
              <a:extLst>
                <a:ext uri="{FF2B5EF4-FFF2-40B4-BE49-F238E27FC236}">
                  <a16:creationId xmlns:a16="http://schemas.microsoft.com/office/drawing/2014/main" id="{615BE6B2-D5C5-4DF2-A202-08D390B808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1">
              <a:extLst>
                <a:ext uri="{FF2B5EF4-FFF2-40B4-BE49-F238E27FC236}">
                  <a16:creationId xmlns:a16="http://schemas.microsoft.com/office/drawing/2014/main" id="{099223E0-3D38-4C61-A6AB-77FD1131B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2">
              <a:extLst>
                <a:ext uri="{FF2B5EF4-FFF2-40B4-BE49-F238E27FC236}">
                  <a16:creationId xmlns:a16="http://schemas.microsoft.com/office/drawing/2014/main" id="{36238226-12E6-4277-A7FE-FE1D58EBCC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C36E43D9-94F5-4BC9-A9B9-0963F3212934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3" name="Rectangle 4">
              <a:extLst>
                <a:ext uri="{FF2B5EF4-FFF2-40B4-BE49-F238E27FC236}">
                  <a16:creationId xmlns:a16="http://schemas.microsoft.com/office/drawing/2014/main" id="{6146D108-AA9E-46C7-87B8-DB32E886E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4" name="Line 9">
              <a:extLst>
                <a:ext uri="{FF2B5EF4-FFF2-40B4-BE49-F238E27FC236}">
                  <a16:creationId xmlns:a16="http://schemas.microsoft.com/office/drawing/2014/main" id="{19F7AB7C-2DB8-4583-8A5A-A7497EF0B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0">
              <a:extLst>
                <a:ext uri="{FF2B5EF4-FFF2-40B4-BE49-F238E27FC236}">
                  <a16:creationId xmlns:a16="http://schemas.microsoft.com/office/drawing/2014/main" id="{D9070A5E-4623-495B-B282-DC211EB46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1">
              <a:extLst>
                <a:ext uri="{FF2B5EF4-FFF2-40B4-BE49-F238E27FC236}">
                  <a16:creationId xmlns:a16="http://schemas.microsoft.com/office/drawing/2014/main" id="{98091718-3609-4C97-AA31-4F8E557DB2B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2">
              <a:extLst>
                <a:ext uri="{FF2B5EF4-FFF2-40B4-BE49-F238E27FC236}">
                  <a16:creationId xmlns:a16="http://schemas.microsoft.com/office/drawing/2014/main" id="{972BF1FD-2CAA-4CD7-9B7B-63905F4572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80B7729-A1B4-4A0D-962C-75EA75924A6E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D970C46C-D38F-4109-830F-3ABFA11868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0" name="Line 9">
              <a:extLst>
                <a:ext uri="{FF2B5EF4-FFF2-40B4-BE49-F238E27FC236}">
                  <a16:creationId xmlns:a16="http://schemas.microsoft.com/office/drawing/2014/main" id="{DC71825A-B59B-43E0-97A3-9D168DA69B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0">
              <a:extLst>
                <a:ext uri="{FF2B5EF4-FFF2-40B4-BE49-F238E27FC236}">
                  <a16:creationId xmlns:a16="http://schemas.microsoft.com/office/drawing/2014/main" id="{B7CA2A7B-4DD8-4E96-B7F6-0E5211ECAB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1">
              <a:extLst>
                <a:ext uri="{FF2B5EF4-FFF2-40B4-BE49-F238E27FC236}">
                  <a16:creationId xmlns:a16="http://schemas.microsoft.com/office/drawing/2014/main" id="{82D0468F-32FF-409B-9B60-29930A4D59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2">
              <a:extLst>
                <a:ext uri="{FF2B5EF4-FFF2-40B4-BE49-F238E27FC236}">
                  <a16:creationId xmlns:a16="http://schemas.microsoft.com/office/drawing/2014/main" id="{7CE66C98-9E31-4FF6-8CC7-825EA2CD5E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D202EA-8900-4648-A31B-14A26F027D17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5" name="Rectangle 4">
              <a:extLst>
                <a:ext uri="{FF2B5EF4-FFF2-40B4-BE49-F238E27FC236}">
                  <a16:creationId xmlns:a16="http://schemas.microsoft.com/office/drawing/2014/main" id="{9DAD189E-617A-4015-AEA2-3AD5EF57E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6" name="Line 9">
              <a:extLst>
                <a:ext uri="{FF2B5EF4-FFF2-40B4-BE49-F238E27FC236}">
                  <a16:creationId xmlns:a16="http://schemas.microsoft.com/office/drawing/2014/main" id="{706F2757-BC1F-44C4-99B2-61C82726BC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0">
              <a:extLst>
                <a:ext uri="{FF2B5EF4-FFF2-40B4-BE49-F238E27FC236}">
                  <a16:creationId xmlns:a16="http://schemas.microsoft.com/office/drawing/2014/main" id="{E207FF67-A50D-4344-B73D-76A3B97502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1">
              <a:extLst>
                <a:ext uri="{FF2B5EF4-FFF2-40B4-BE49-F238E27FC236}">
                  <a16:creationId xmlns:a16="http://schemas.microsoft.com/office/drawing/2014/main" id="{52AA6136-EA2C-4763-A4E4-4EBCC63F9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2">
              <a:extLst>
                <a:ext uri="{FF2B5EF4-FFF2-40B4-BE49-F238E27FC236}">
                  <a16:creationId xmlns:a16="http://schemas.microsoft.com/office/drawing/2014/main" id="{A06CD0D0-4C23-4379-BC96-B7DE4973F8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E80EE8F-3F74-451C-B7FC-A73F6EC926B9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1" name="Rectangle 4">
              <a:extLst>
                <a:ext uri="{FF2B5EF4-FFF2-40B4-BE49-F238E27FC236}">
                  <a16:creationId xmlns:a16="http://schemas.microsoft.com/office/drawing/2014/main" id="{602C1306-E429-4DB7-B05B-293BCE2E43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2" name="Line 9">
              <a:extLst>
                <a:ext uri="{FF2B5EF4-FFF2-40B4-BE49-F238E27FC236}">
                  <a16:creationId xmlns:a16="http://schemas.microsoft.com/office/drawing/2014/main" id="{694DF86C-D225-478B-A0E2-1D9AA0ADBF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0">
              <a:extLst>
                <a:ext uri="{FF2B5EF4-FFF2-40B4-BE49-F238E27FC236}">
                  <a16:creationId xmlns:a16="http://schemas.microsoft.com/office/drawing/2014/main" id="{8B6A576B-39B7-4F94-BE27-CE31AEE1F4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1">
              <a:extLst>
                <a:ext uri="{FF2B5EF4-FFF2-40B4-BE49-F238E27FC236}">
                  <a16:creationId xmlns:a16="http://schemas.microsoft.com/office/drawing/2014/main" id="{BDE5A33A-914E-46C1-AB98-10B729113B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5" name="Line 12">
              <a:extLst>
                <a:ext uri="{FF2B5EF4-FFF2-40B4-BE49-F238E27FC236}">
                  <a16:creationId xmlns:a16="http://schemas.microsoft.com/office/drawing/2014/main" id="{CB8B73CD-7010-43E9-918E-BEAB34C749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FD56CE90-66C9-4E8A-B0C8-2C6569989B84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3A913423-D40A-4553-B2F2-DD694676DA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AE8722D7-9DD3-4340-873E-057517E740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0">
              <a:extLst>
                <a:ext uri="{FF2B5EF4-FFF2-40B4-BE49-F238E27FC236}">
                  <a16:creationId xmlns:a16="http://schemas.microsoft.com/office/drawing/2014/main" id="{6D794A68-A1C8-41DF-992A-7966EBDD25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1">
              <a:extLst>
                <a:ext uri="{FF2B5EF4-FFF2-40B4-BE49-F238E27FC236}">
                  <a16:creationId xmlns:a16="http://schemas.microsoft.com/office/drawing/2014/main" id="{F9A1E8C5-40A8-4731-ABC9-AA9BD75F2C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1" name="Line 12">
              <a:extLst>
                <a:ext uri="{FF2B5EF4-FFF2-40B4-BE49-F238E27FC236}">
                  <a16:creationId xmlns:a16="http://schemas.microsoft.com/office/drawing/2014/main" id="{4E58319A-E15C-4829-972F-9F5DBC4D9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B9A668B3-FD45-42F5-B1CF-026B276AE3C7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3" name="Rectangle 4">
              <a:extLst>
                <a:ext uri="{FF2B5EF4-FFF2-40B4-BE49-F238E27FC236}">
                  <a16:creationId xmlns:a16="http://schemas.microsoft.com/office/drawing/2014/main" id="{7BC85B8B-1110-4AAC-AB3E-7A38F3D02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4" name="Line 9">
              <a:extLst>
                <a:ext uri="{FF2B5EF4-FFF2-40B4-BE49-F238E27FC236}">
                  <a16:creationId xmlns:a16="http://schemas.microsoft.com/office/drawing/2014/main" id="{21863318-FA7B-4347-9C20-AAA3F362BC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EA5048E0-F715-4B58-B02A-1F60D4299A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1">
              <a:extLst>
                <a:ext uri="{FF2B5EF4-FFF2-40B4-BE49-F238E27FC236}">
                  <a16:creationId xmlns:a16="http://schemas.microsoft.com/office/drawing/2014/main" id="{9700AE68-DDE9-4EA8-90AA-285AEB48B3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EEB6950A-C65E-4B36-8056-EEB0328A00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E1896506-C3E6-44ED-A509-58AB0094B448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9" name="Rectangle 4">
              <a:extLst>
                <a:ext uri="{FF2B5EF4-FFF2-40B4-BE49-F238E27FC236}">
                  <a16:creationId xmlns:a16="http://schemas.microsoft.com/office/drawing/2014/main" id="{756CEF03-4CB5-4E7C-B99A-5043AE2406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3B4B3FA7-C38D-413D-8540-4108FE94E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0">
              <a:extLst>
                <a:ext uri="{FF2B5EF4-FFF2-40B4-BE49-F238E27FC236}">
                  <a16:creationId xmlns:a16="http://schemas.microsoft.com/office/drawing/2014/main" id="{33A97BF3-8215-4E4C-AE48-3579AD928C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1">
              <a:extLst>
                <a:ext uri="{FF2B5EF4-FFF2-40B4-BE49-F238E27FC236}">
                  <a16:creationId xmlns:a16="http://schemas.microsoft.com/office/drawing/2014/main" id="{179A3D45-EC61-4D4C-BEC3-CF9D2A974E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2">
              <a:extLst>
                <a:ext uri="{FF2B5EF4-FFF2-40B4-BE49-F238E27FC236}">
                  <a16:creationId xmlns:a16="http://schemas.microsoft.com/office/drawing/2014/main" id="{9A7226D7-4BA5-4E31-8CF6-89D4330E00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26DE15C-0724-42E8-95A9-1A23C18D4970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DA492E3F-8955-4978-8AF8-21BFFECA43C2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조회 기능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8A2C9861-46E5-4668-82A1-840034473DA4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게시물 제목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상세보기 페이지로 이동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C4634850-CAB7-46D8-AA02-E5710BDD44BF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글쓰기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글쓰기 페이지로 이동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BC5C241-7217-465C-A1B7-F51254DE139F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읽기 페이지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4F38CA6-FC0A-44E5-BFA4-52AB7C3012DE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공지사항 쓰기 페이지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3D00451-F6AC-4A92-A260-9D580244333A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B5CC5D0-2A70-4BA6-AED8-A3B08CDAB962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9FB6E4-D06D-4CD3-BE84-188BFA80CC67}"/>
              </a:ext>
            </a:extLst>
          </p:cNvPr>
          <p:cNvSpPr txBox="1"/>
          <p:nvPr/>
        </p:nvSpPr>
        <p:spPr>
          <a:xfrm>
            <a:off x="2797169" y="217002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F8047DB-E084-49A1-9BC6-7E4862E6BC6C}"/>
              </a:ext>
            </a:extLst>
          </p:cNvPr>
          <p:cNvSpPr txBox="1"/>
          <p:nvPr/>
        </p:nvSpPr>
        <p:spPr>
          <a:xfrm>
            <a:off x="1682563" y="264673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2012305-3864-4187-8928-0C71F6B60F33}"/>
              </a:ext>
            </a:extLst>
          </p:cNvPr>
          <p:cNvSpPr txBox="1"/>
          <p:nvPr/>
        </p:nvSpPr>
        <p:spPr>
          <a:xfrm>
            <a:off x="2271367" y="3042838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1C90D2A-60FD-450E-8F66-275F2CCE06B1}"/>
              </a:ext>
            </a:extLst>
          </p:cNvPr>
          <p:cNvSpPr txBox="1"/>
          <p:nvPr/>
        </p:nvSpPr>
        <p:spPr>
          <a:xfrm>
            <a:off x="5337364" y="3046849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BC43463-F66B-43CD-AF44-B8E2D7D5FA43}"/>
              </a:ext>
            </a:extLst>
          </p:cNvPr>
          <p:cNvSpPr txBox="1"/>
          <p:nvPr/>
        </p:nvSpPr>
        <p:spPr>
          <a:xfrm>
            <a:off x="2931975" y="44346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4347C6CA-5485-474C-8CDB-A2C3DCA3AA6E}"/>
              </a:ext>
            </a:extLst>
          </p:cNvPr>
          <p:cNvSpPr txBox="1"/>
          <p:nvPr/>
        </p:nvSpPr>
        <p:spPr>
          <a:xfrm>
            <a:off x="2931975" y="6826917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A6A61883-8A35-4FD9-9167-F945E97D24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8F14F8D5-7250-48B6-9631-725F67144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8" name="Text Box 2">
            <a:extLst>
              <a:ext uri="{FF2B5EF4-FFF2-40B4-BE49-F238E27FC236}">
                <a16:creationId xmlns:a16="http://schemas.microsoft.com/office/drawing/2014/main" id="{93DEC279-E600-45C8-A92D-E4ECAABAC2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공지사항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69" name="Text Box 31">
            <a:extLst>
              <a:ext uri="{FF2B5EF4-FFF2-40B4-BE49-F238E27FC236}">
                <a16:creationId xmlns:a16="http://schemas.microsoft.com/office/drawing/2014/main" id="{82F9A470-8E78-47EB-95B6-4D8C1DAF8A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notice</a:t>
            </a:r>
          </a:p>
        </p:txBody>
      </p:sp>
    </p:spTree>
    <p:extLst>
      <p:ext uri="{BB962C8B-B14F-4D97-AF65-F5344CB8AC3E}">
        <p14:creationId xmlns:p14="http://schemas.microsoft.com/office/powerpoint/2010/main" val="2176923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그림 73">
            <a:extLst>
              <a:ext uri="{FF2B5EF4-FFF2-40B4-BE49-F238E27FC236}">
                <a16:creationId xmlns:a16="http://schemas.microsoft.com/office/drawing/2014/main" id="{BFBC6E58-1C55-4786-BBFE-C3F9CC3B65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061" y="1099552"/>
            <a:ext cx="6002977" cy="6858000"/>
          </a:xfrm>
          <a:prstGeom prst="rect">
            <a:avLst/>
          </a:prstGeom>
        </p:spPr>
      </p:pic>
      <p:grpSp>
        <p:nvGrpSpPr>
          <p:cNvPr id="4" name="그룹 3">
            <a:extLst>
              <a:ext uri="{FF2B5EF4-FFF2-40B4-BE49-F238E27FC236}">
                <a16:creationId xmlns:a16="http://schemas.microsoft.com/office/drawing/2014/main" id="{8DBCE66D-ED49-49D5-B111-0359D4E44902}"/>
              </a:ext>
            </a:extLst>
          </p:cNvPr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7DB570A-153B-4426-923B-DDEB87A5D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6" name="Line 9">
              <a:extLst>
                <a:ext uri="{FF2B5EF4-FFF2-40B4-BE49-F238E27FC236}">
                  <a16:creationId xmlns:a16="http://schemas.microsoft.com/office/drawing/2014/main" id="{871A94F4-E579-45D3-B25D-290AF6B90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" name="Line 10">
              <a:extLst>
                <a:ext uri="{FF2B5EF4-FFF2-40B4-BE49-F238E27FC236}">
                  <a16:creationId xmlns:a16="http://schemas.microsoft.com/office/drawing/2014/main" id="{32C47BE6-FDAC-42E0-8542-58F1ED7757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1">
              <a:extLst>
                <a:ext uri="{FF2B5EF4-FFF2-40B4-BE49-F238E27FC236}">
                  <a16:creationId xmlns:a16="http://schemas.microsoft.com/office/drawing/2014/main" id="{E8DEDFE6-6293-4127-BC98-4C8239061BB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2">
              <a:extLst>
                <a:ext uri="{FF2B5EF4-FFF2-40B4-BE49-F238E27FC236}">
                  <a16:creationId xmlns:a16="http://schemas.microsoft.com/office/drawing/2014/main" id="{A28D10B7-ED70-4CD6-8749-C6242F87EA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6590CAB-61F4-4032-8401-51610A96809E}"/>
              </a:ext>
            </a:extLst>
          </p:cNvPr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1" name="Rectangle 4">
              <a:extLst>
                <a:ext uri="{FF2B5EF4-FFF2-40B4-BE49-F238E27FC236}">
                  <a16:creationId xmlns:a16="http://schemas.microsoft.com/office/drawing/2014/main" id="{8F0925CE-7CDC-4B43-97AF-CBC33EC87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7EBC1E39-2E1D-457E-AFA9-616615A199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3" name="Line 10">
              <a:extLst>
                <a:ext uri="{FF2B5EF4-FFF2-40B4-BE49-F238E27FC236}">
                  <a16:creationId xmlns:a16="http://schemas.microsoft.com/office/drawing/2014/main" id="{254B7349-4676-4B59-A820-1D1C54A257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1">
              <a:extLst>
                <a:ext uri="{FF2B5EF4-FFF2-40B4-BE49-F238E27FC236}">
                  <a16:creationId xmlns:a16="http://schemas.microsoft.com/office/drawing/2014/main" id="{3034D0C5-4283-4977-B573-34D1AA124A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2">
              <a:extLst>
                <a:ext uri="{FF2B5EF4-FFF2-40B4-BE49-F238E27FC236}">
                  <a16:creationId xmlns:a16="http://schemas.microsoft.com/office/drawing/2014/main" id="{27CF7A40-3E2A-4A49-B0D1-85535945F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84033BF-6BF8-4B3D-A1ED-B390844CAA3D}"/>
              </a:ext>
            </a:extLst>
          </p:cNvPr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7" name="Rectangle 4">
              <a:extLst>
                <a:ext uri="{FF2B5EF4-FFF2-40B4-BE49-F238E27FC236}">
                  <a16:creationId xmlns:a16="http://schemas.microsoft.com/office/drawing/2014/main" id="{03B75219-C2F0-42BD-B556-56AE94869D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18" name="Line 9">
              <a:extLst>
                <a:ext uri="{FF2B5EF4-FFF2-40B4-BE49-F238E27FC236}">
                  <a16:creationId xmlns:a16="http://schemas.microsoft.com/office/drawing/2014/main" id="{69FB4A82-F281-41D2-BE09-8DE1C177D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9" name="Line 10">
              <a:extLst>
                <a:ext uri="{FF2B5EF4-FFF2-40B4-BE49-F238E27FC236}">
                  <a16:creationId xmlns:a16="http://schemas.microsoft.com/office/drawing/2014/main" id="{E2097AF4-32AC-443A-9B59-B931DE4168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1">
              <a:extLst>
                <a:ext uri="{FF2B5EF4-FFF2-40B4-BE49-F238E27FC236}">
                  <a16:creationId xmlns:a16="http://schemas.microsoft.com/office/drawing/2014/main" id="{C17D3AB2-4839-475C-9209-C963D589125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2">
              <a:extLst>
                <a:ext uri="{FF2B5EF4-FFF2-40B4-BE49-F238E27FC236}">
                  <a16:creationId xmlns:a16="http://schemas.microsoft.com/office/drawing/2014/main" id="{0D0E6767-AF82-4509-8884-945245E373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9E28B8CF-DD56-48FB-A361-70004CCB6BAA}"/>
              </a:ext>
            </a:extLst>
          </p:cNvPr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3" name="Rectangle 4">
              <a:extLst>
                <a:ext uri="{FF2B5EF4-FFF2-40B4-BE49-F238E27FC236}">
                  <a16:creationId xmlns:a16="http://schemas.microsoft.com/office/drawing/2014/main" id="{C09697A4-85C7-4549-9A21-BB5CA74BCD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24" name="Line 9">
              <a:extLst>
                <a:ext uri="{FF2B5EF4-FFF2-40B4-BE49-F238E27FC236}">
                  <a16:creationId xmlns:a16="http://schemas.microsoft.com/office/drawing/2014/main" id="{C6641D8C-8C79-4303-9CB0-4BEE7C6734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9B35F370-F8AE-4B87-810C-442488DBD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1">
              <a:extLst>
                <a:ext uri="{FF2B5EF4-FFF2-40B4-BE49-F238E27FC236}">
                  <a16:creationId xmlns:a16="http://schemas.microsoft.com/office/drawing/2014/main" id="{B3F3A051-8C6C-439E-846E-6DE5519750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2">
              <a:extLst>
                <a:ext uri="{FF2B5EF4-FFF2-40B4-BE49-F238E27FC236}">
                  <a16:creationId xmlns:a16="http://schemas.microsoft.com/office/drawing/2014/main" id="{C4B3D748-FA6E-40D1-871F-26FC104EE1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82D32C6D-BB4C-450E-850F-0DCE348741EC}"/>
              </a:ext>
            </a:extLst>
          </p:cNvPr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29" name="Rectangle 4">
              <a:extLst>
                <a:ext uri="{FF2B5EF4-FFF2-40B4-BE49-F238E27FC236}">
                  <a16:creationId xmlns:a16="http://schemas.microsoft.com/office/drawing/2014/main" id="{D8F59C8C-0E62-4AB0-B15D-E8AFCA3D2D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01CA3464-49D0-4071-B0C2-80186184C9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1" name="Line 10">
              <a:extLst>
                <a:ext uri="{FF2B5EF4-FFF2-40B4-BE49-F238E27FC236}">
                  <a16:creationId xmlns:a16="http://schemas.microsoft.com/office/drawing/2014/main" id="{8CD1B58B-6204-4469-8F51-631811BF86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1">
              <a:extLst>
                <a:ext uri="{FF2B5EF4-FFF2-40B4-BE49-F238E27FC236}">
                  <a16:creationId xmlns:a16="http://schemas.microsoft.com/office/drawing/2014/main" id="{CC409D41-6EE1-495B-BC69-6063B5AD48B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2">
              <a:extLst>
                <a:ext uri="{FF2B5EF4-FFF2-40B4-BE49-F238E27FC236}">
                  <a16:creationId xmlns:a16="http://schemas.microsoft.com/office/drawing/2014/main" id="{691FB7D2-99DE-4FD6-8727-3153B7AE6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5A2B4D19-33E6-4E5F-8F11-90AEB301C405}"/>
              </a:ext>
            </a:extLst>
          </p:cNvPr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35" name="Rectangle 4">
              <a:extLst>
                <a:ext uri="{FF2B5EF4-FFF2-40B4-BE49-F238E27FC236}">
                  <a16:creationId xmlns:a16="http://schemas.microsoft.com/office/drawing/2014/main" id="{96FBF47C-0362-4987-81C6-6D0764A7E2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9">
              <a:extLst>
                <a:ext uri="{FF2B5EF4-FFF2-40B4-BE49-F238E27FC236}">
                  <a16:creationId xmlns:a16="http://schemas.microsoft.com/office/drawing/2014/main" id="{7FC2BFD8-AEBF-457E-9C1C-E8FAA89DE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Line 10">
              <a:extLst>
                <a:ext uri="{FF2B5EF4-FFF2-40B4-BE49-F238E27FC236}">
                  <a16:creationId xmlns:a16="http://schemas.microsoft.com/office/drawing/2014/main" id="{6FA4BAD2-BC03-4881-BE4B-3F3E96DF0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1">
              <a:extLst>
                <a:ext uri="{FF2B5EF4-FFF2-40B4-BE49-F238E27FC236}">
                  <a16:creationId xmlns:a16="http://schemas.microsoft.com/office/drawing/2014/main" id="{6C25BC9A-528C-4EC0-AE33-7ADC461AEE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2">
              <a:extLst>
                <a:ext uri="{FF2B5EF4-FFF2-40B4-BE49-F238E27FC236}">
                  <a16:creationId xmlns:a16="http://schemas.microsoft.com/office/drawing/2014/main" id="{6749ED3D-3DCB-4860-83F0-A627DD7F75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765C3D93-EDFC-46AC-BE01-55EA17530781}"/>
              </a:ext>
            </a:extLst>
          </p:cNvPr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41" name="Rectangle 4">
              <a:extLst>
                <a:ext uri="{FF2B5EF4-FFF2-40B4-BE49-F238E27FC236}">
                  <a16:creationId xmlns:a16="http://schemas.microsoft.com/office/drawing/2014/main" id="{F063C3EC-7D94-441D-A99B-5661D0FBB8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42" name="Line 9">
              <a:extLst>
                <a:ext uri="{FF2B5EF4-FFF2-40B4-BE49-F238E27FC236}">
                  <a16:creationId xmlns:a16="http://schemas.microsoft.com/office/drawing/2014/main" id="{079E0CAE-0045-4AF5-818C-F07D11DE03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3" name="Line 10">
              <a:extLst>
                <a:ext uri="{FF2B5EF4-FFF2-40B4-BE49-F238E27FC236}">
                  <a16:creationId xmlns:a16="http://schemas.microsoft.com/office/drawing/2014/main" id="{9DB4C2CF-09F5-44DE-9C87-FE830C91FC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1">
              <a:extLst>
                <a:ext uri="{FF2B5EF4-FFF2-40B4-BE49-F238E27FC236}">
                  <a16:creationId xmlns:a16="http://schemas.microsoft.com/office/drawing/2014/main" id="{117CB82B-6988-488F-A9BE-1373CDF59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2">
              <a:extLst>
                <a:ext uri="{FF2B5EF4-FFF2-40B4-BE49-F238E27FC236}">
                  <a16:creationId xmlns:a16="http://schemas.microsoft.com/office/drawing/2014/main" id="{6D9F4FB3-7B73-4CC8-A89F-6ACDB07FA6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E1DEFAA2-9F55-46B1-9265-A6012457E972}"/>
              </a:ext>
            </a:extLst>
          </p:cNvPr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47" name="Rectangle 4">
              <a:extLst>
                <a:ext uri="{FF2B5EF4-FFF2-40B4-BE49-F238E27FC236}">
                  <a16:creationId xmlns:a16="http://schemas.microsoft.com/office/drawing/2014/main" id="{4AC3E912-6022-4342-98F8-FC0723822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AA69FB2F-A2EC-47D9-B7D7-EE3EC36A0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9" name="Line 10">
              <a:extLst>
                <a:ext uri="{FF2B5EF4-FFF2-40B4-BE49-F238E27FC236}">
                  <a16:creationId xmlns:a16="http://schemas.microsoft.com/office/drawing/2014/main" id="{6FCF481D-244C-4055-B6EC-2E81FD15A3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1">
              <a:extLst>
                <a:ext uri="{FF2B5EF4-FFF2-40B4-BE49-F238E27FC236}">
                  <a16:creationId xmlns:a16="http://schemas.microsoft.com/office/drawing/2014/main" id="{2C3D821A-71AA-44D4-93F1-A62D73AD39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2">
              <a:extLst>
                <a:ext uri="{FF2B5EF4-FFF2-40B4-BE49-F238E27FC236}">
                  <a16:creationId xmlns:a16="http://schemas.microsoft.com/office/drawing/2014/main" id="{D700CD3E-7F0B-4DB4-AC36-7E1D252B7B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3E7849BB-DAD3-4764-893C-3B67623F07D1}"/>
              </a:ext>
            </a:extLst>
          </p:cNvPr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공통코드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40762CA-0308-434D-8879-E4B130BA36DB}"/>
              </a:ext>
            </a:extLst>
          </p:cNvPr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수정버튼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수정 및 삭제 페이지로 이동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61B0672-A7A0-473E-BBCB-01B92E4272CC}"/>
              </a:ext>
            </a:extLst>
          </p:cNvPr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코드 검색 기능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478C95-705C-46EE-A963-124D65290633}"/>
              </a:ext>
            </a:extLst>
          </p:cNvPr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등록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등록 페이지로 이동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D9313631-803E-4AE1-A903-1588844CBEA9}"/>
              </a:ext>
            </a:extLst>
          </p:cNvPr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수정 및 삭제 창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D58103B-5048-4C85-AB3E-4E2805EDE7EB}"/>
              </a:ext>
            </a:extLst>
          </p:cNvPr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등록 창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358A607-6494-4299-B890-E09A9DD77611}"/>
              </a:ext>
            </a:extLst>
          </p:cNvPr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그룹코드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하단에 상세코드 목록 표시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875EDCEC-ADC4-4CF3-B38E-4EDCB011276B}"/>
              </a:ext>
            </a:extLst>
          </p:cNvPr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상세코드 목록 표시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7E9932B-CB0C-4363-9A5F-6AB152481471}"/>
              </a:ext>
            </a:extLst>
          </p:cNvPr>
          <p:cNvSpPr txBox="1"/>
          <p:nvPr/>
        </p:nvSpPr>
        <p:spPr>
          <a:xfrm>
            <a:off x="3226377" y="219787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9AD4BA7-191A-49B8-AF27-835D7463B93E}"/>
              </a:ext>
            </a:extLst>
          </p:cNvPr>
          <p:cNvSpPr txBox="1"/>
          <p:nvPr/>
        </p:nvSpPr>
        <p:spPr>
          <a:xfrm>
            <a:off x="5686614" y="284334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70C4F0-CE0C-4CA4-B1E8-907C2837904F}"/>
              </a:ext>
            </a:extLst>
          </p:cNvPr>
          <p:cNvSpPr txBox="1"/>
          <p:nvPr/>
        </p:nvSpPr>
        <p:spPr>
          <a:xfrm>
            <a:off x="1533152" y="394886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957565-452D-40ED-942B-D43191F06DDA}"/>
              </a:ext>
            </a:extLst>
          </p:cNvPr>
          <p:cNvSpPr txBox="1"/>
          <p:nvPr/>
        </p:nvSpPr>
        <p:spPr>
          <a:xfrm>
            <a:off x="5529858" y="361228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A3B4FAB-0076-4A75-89FE-E2B2671EF848}"/>
              </a:ext>
            </a:extLst>
          </p:cNvPr>
          <p:cNvSpPr txBox="1"/>
          <p:nvPr/>
        </p:nvSpPr>
        <p:spPr>
          <a:xfrm>
            <a:off x="3546311" y="478045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16F542A-B95F-48ED-ABDB-5C9488B88BF1}"/>
              </a:ext>
            </a:extLst>
          </p:cNvPr>
          <p:cNvSpPr txBox="1"/>
          <p:nvPr/>
        </p:nvSpPr>
        <p:spPr>
          <a:xfrm>
            <a:off x="3546311" y="584679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4F583D0-2661-4091-BDCC-8EF8CAB47E54}"/>
              </a:ext>
            </a:extLst>
          </p:cNvPr>
          <p:cNvSpPr txBox="1"/>
          <p:nvPr/>
        </p:nvSpPr>
        <p:spPr>
          <a:xfrm>
            <a:off x="1425402" y="6355211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F0FA65-FDF7-4EB5-B652-CC1BAABA6080}"/>
              </a:ext>
            </a:extLst>
          </p:cNvPr>
          <p:cNvSpPr txBox="1"/>
          <p:nvPr/>
        </p:nvSpPr>
        <p:spPr>
          <a:xfrm>
            <a:off x="3191892" y="716297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sp>
        <p:nvSpPr>
          <p:cNvPr id="70" name="Text Box 1">
            <a:extLst>
              <a:ext uri="{FF2B5EF4-FFF2-40B4-BE49-F238E27FC236}">
                <a16:creationId xmlns:a16="http://schemas.microsoft.com/office/drawing/2014/main" id="{6B96DFF4-0957-4BB7-988D-7112B8C893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sp>
        <p:nvSpPr>
          <p:cNvPr id="71" name="Text Box 1">
            <a:extLst>
              <a:ext uri="{FF2B5EF4-FFF2-40B4-BE49-F238E27FC236}">
                <a16:creationId xmlns:a16="http://schemas.microsoft.com/office/drawing/2014/main" id="{9313A921-DB1D-4276-B1DF-1735CAFFC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564FE40F-C106-4B3B-89BF-3F40CD4CBB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err="1">
                <a:solidFill>
                  <a:srgbClr val="000000"/>
                </a:solidFill>
              </a:rPr>
              <a:t>공통코드관리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1">
            <a:extLst>
              <a:ext uri="{FF2B5EF4-FFF2-40B4-BE49-F238E27FC236}">
                <a16:creationId xmlns:a16="http://schemas.microsoft.com/office/drawing/2014/main" id="{776CA163-B45F-4D23-A313-6D4A9007FB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cmnCodeMng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32575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A5F92EE9-3E16-442C-BF58-885FBAD4C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0074" y="1134158"/>
            <a:ext cx="6496952" cy="5298111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 목록과 </a:t>
            </a:r>
            <a:r>
              <a:rPr lang="en-US" altLang="ko-KR" dirty="0">
                <a:solidFill>
                  <a:schemeClr val="tx1"/>
                </a:solidFill>
              </a:rPr>
              <a:t>DB</a:t>
            </a:r>
            <a:r>
              <a:rPr lang="ko-KR" altLang="en-US" dirty="0">
                <a:solidFill>
                  <a:schemeClr val="tx1"/>
                </a:solidFill>
              </a:rPr>
              <a:t>에 등록된 정보 표시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납품업체가 보유하고 있는 제품 정보 목록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6430" y="1760607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기준정보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납품업체 정보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SupplierInfo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업체명 혹은 제품명으로 납품업체 정보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163" y="2255759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7145" y="456413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2577279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제품 정보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210999" y="860178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productInfoForm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3" name="그룹 22"/>
          <p:cNvGrpSpPr/>
          <p:nvPr/>
        </p:nvGrpSpPr>
        <p:grpSpPr>
          <a:xfrm>
            <a:off x="7330058" y="1954932"/>
            <a:ext cx="2513136" cy="825996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784356"/>
            <a:ext cx="2513136" cy="788660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57644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422451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02850" y="2776736"/>
            <a:ext cx="2232248" cy="788660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모델번호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140" y="357644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제품 등록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14380" y="1950740"/>
            <a:ext cx="2232248" cy="82599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제품 등록 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42210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버튼 클릭 시 이미지가 등록 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80" name="그림 79" descr="원동희 제품정보관리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1194340"/>
            <a:ext cx="7056784" cy="5186988"/>
          </a:xfrm>
          <a:prstGeom prst="rect">
            <a:avLst/>
          </a:prstGeom>
        </p:spPr>
      </p:pic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84482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22768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335699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7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2386" y="597480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8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3594" y="561476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33869" y="629397"/>
            <a:ext cx="20986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창고 정보 관리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6189" y="860178"/>
            <a:ext cx="9717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wHouseInfoForm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10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1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1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9" name="그룹 28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3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3" name="직사각형 52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54" name="직사각형 53"/>
          <p:cNvSpPr/>
          <p:nvPr/>
        </p:nvSpPr>
        <p:spPr bwMode="auto">
          <a:xfrm>
            <a:off x="7602850" y="259881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 </a:t>
            </a: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창고코드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</a:p>
        </p:txBody>
      </p:sp>
      <p:sp>
        <p:nvSpPr>
          <p:cNvPr id="55" name="직사각형 54"/>
          <p:cNvSpPr/>
          <p:nvPr/>
        </p:nvSpPr>
        <p:spPr bwMode="auto">
          <a:xfrm>
            <a:off x="7599140" y="325450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창고 등록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 bwMode="auto">
          <a:xfrm>
            <a:off x="7614380" y="19507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창고 등록 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 bwMode="auto">
          <a:xfrm>
            <a:off x="7614098" y="389914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버튼 클릭 시 주소 검색 창 출력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api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61" name="그림 60" descr="원동희 창고 정보 관리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8" y="1196751"/>
            <a:ext cx="7056784" cy="5182254"/>
          </a:xfrm>
          <a:prstGeom prst="rect">
            <a:avLst/>
          </a:prstGeom>
        </p:spPr>
      </p:pic>
      <p:sp>
        <p:nvSpPr>
          <p:cNvPr id="6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9938" y="19888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5962" y="24928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3717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766" y="594928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674" y="501317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7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그림 58" descr="원동희 문의게시판2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8" y="1124744"/>
            <a:ext cx="7056784" cy="5273824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445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1 : 1 </a:t>
            </a:r>
            <a:r>
              <a:rPr lang="ko-KR" altLang="en-US" dirty="0" smtClean="0">
                <a:solidFill>
                  <a:schemeClr val="tx1"/>
                </a:solidFill>
              </a:rPr>
              <a:t>문의 게시판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85842" y="860178"/>
            <a:ext cx="74732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answerForm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6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12"/>
          <p:cNvGrpSpPr/>
          <p:nvPr/>
        </p:nvGrpSpPr>
        <p:grpSpPr>
          <a:xfrm>
            <a:off x="7330058" y="1954932"/>
            <a:ext cx="2513136" cy="898004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8"/>
          <p:cNvGrpSpPr/>
          <p:nvPr/>
        </p:nvGrpSpPr>
        <p:grpSpPr>
          <a:xfrm>
            <a:off x="7330058" y="2850272"/>
            <a:ext cx="2513136" cy="1254616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24"/>
          <p:cNvGrpSpPr/>
          <p:nvPr/>
        </p:nvGrpSpPr>
        <p:grpSpPr>
          <a:xfrm>
            <a:off x="7330058" y="4104888"/>
            <a:ext cx="2513136" cy="648072"/>
            <a:chOff x="2721546" y="4077072"/>
            <a:chExt cx="2513136" cy="648072"/>
          </a:xfrm>
        </p:grpSpPr>
        <p:sp>
          <p:nvSpPr>
            <p:cNvPr id="2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7" name="직사각형 36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값과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Calendar</a:t>
            </a:r>
            <a:r>
              <a:rPr lang="ko-KR" altLang="en-US" dirty="0" smtClean="0">
                <a:solidFill>
                  <a:schemeClr val="tx1"/>
                </a:solidFill>
              </a:rPr>
              <a:t>의 입력된 값에 따라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 bwMode="auto">
          <a:xfrm>
            <a:off x="7602850" y="2842652"/>
            <a:ext cx="2232248" cy="1254616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를 클릭 시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창을 화면에 띄우고 해당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관한 </a:t>
            </a:r>
            <a:r>
              <a:rPr lang="en-US" altLang="ko-KR" dirty="0" smtClean="0">
                <a:solidFill>
                  <a:schemeClr val="tx1"/>
                </a:solidFill>
              </a:rPr>
              <a:t>detail </a:t>
            </a:r>
            <a:r>
              <a:rPr lang="ko-KR" altLang="en-US" dirty="0" smtClean="0">
                <a:solidFill>
                  <a:schemeClr val="tx1"/>
                </a:solidFill>
              </a:rPr>
              <a:t>정보가 </a:t>
            </a:r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창에 기입 </a:t>
            </a:r>
            <a:r>
              <a:rPr lang="ko-KR" altLang="en-US" dirty="0" err="1" smtClean="0">
                <a:solidFill>
                  <a:schemeClr val="tx1"/>
                </a:solidFill>
              </a:rPr>
              <a:t>되서</a:t>
            </a:r>
            <a:r>
              <a:rPr lang="ko-KR" altLang="en-US" dirty="0" smtClean="0">
                <a:solidFill>
                  <a:schemeClr val="tx1"/>
                </a:solidFill>
              </a:rPr>
              <a:t> 나온다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창의 정보 중 </a:t>
            </a:r>
            <a:r>
              <a:rPr lang="en-US" altLang="ko-KR" dirty="0" smtClean="0">
                <a:solidFill>
                  <a:schemeClr val="tx1"/>
                </a:solidFill>
              </a:rPr>
              <a:t>“</a:t>
            </a:r>
            <a:r>
              <a:rPr lang="ko-KR" altLang="en-US" dirty="0" smtClean="0">
                <a:solidFill>
                  <a:schemeClr val="tx1"/>
                </a:solidFill>
              </a:rPr>
              <a:t>창고코드</a:t>
            </a:r>
            <a:r>
              <a:rPr lang="en-US" altLang="ko-KR" dirty="0" smtClean="0">
                <a:solidFill>
                  <a:schemeClr val="tx1"/>
                </a:solidFill>
              </a:rPr>
              <a:t>”</a:t>
            </a:r>
            <a:r>
              <a:rPr lang="ko-KR" altLang="en-US" dirty="0" smtClean="0">
                <a:solidFill>
                  <a:schemeClr val="tx1"/>
                </a:solidFill>
              </a:rPr>
              <a:t> 제외 모든 정보는 수정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Modal</a:t>
            </a:r>
            <a:r>
              <a:rPr lang="ko-KR" altLang="en-US" dirty="0" smtClean="0">
                <a:solidFill>
                  <a:schemeClr val="tx1"/>
                </a:solidFill>
              </a:rPr>
              <a:t>창의 버튼은 작성자 일 때 모두 보이며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그 외엔 취소 버튼만 보인다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 bwMode="auto">
          <a:xfrm>
            <a:off x="7599140" y="410488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글쓰기 버튼 클릭 시 나온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창 일 경우 해당 버튼은 없어도 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40" name="직사각형 39"/>
          <p:cNvSpPr/>
          <p:nvPr/>
        </p:nvSpPr>
        <p:spPr bwMode="auto">
          <a:xfrm>
            <a:off x="7614380" y="1950740"/>
            <a:ext cx="2232248" cy="89800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글쓰기버튼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 출력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  출력된 </a:t>
            </a:r>
            <a:r>
              <a:rPr lang="en-US" altLang="ko-KR" dirty="0" smtClean="0">
                <a:solidFill>
                  <a:schemeClr val="tx1"/>
                </a:solidFill>
              </a:rPr>
              <a:t>Pop-up</a:t>
            </a:r>
            <a:r>
              <a:rPr lang="ko-KR" altLang="en-US" dirty="0" smtClean="0">
                <a:solidFill>
                  <a:schemeClr val="tx1"/>
                </a:solidFill>
              </a:rPr>
              <a:t>엔 저장</a:t>
            </a:r>
            <a:r>
              <a:rPr lang="en-US" altLang="ko-KR" dirty="0" smtClean="0">
                <a:solidFill>
                  <a:schemeClr val="tx1"/>
                </a:solidFill>
              </a:rPr>
              <a:t>(insert)</a:t>
            </a:r>
            <a:r>
              <a:rPr lang="ko-KR" altLang="en-US" dirty="0" smtClean="0">
                <a:solidFill>
                  <a:schemeClr val="tx1"/>
                </a:solidFill>
              </a:rPr>
              <a:t>만 가능하다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저장버튼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null or ‘’ </a:t>
            </a:r>
            <a:r>
              <a:rPr lang="ko-KR" altLang="en-US" dirty="0" smtClean="0">
                <a:solidFill>
                  <a:schemeClr val="tx1"/>
                </a:solidFill>
              </a:rPr>
              <a:t>값이 있으면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alert</a:t>
            </a:r>
            <a:r>
              <a:rPr lang="ko-KR" altLang="en-US" dirty="0" smtClean="0">
                <a:solidFill>
                  <a:schemeClr val="tx1"/>
                </a:solidFill>
              </a:rPr>
              <a:t>창이 출력됨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698" y="16703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4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9126" y="203798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8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3434" y="295046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49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830" y="45609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25" name="그룹 49"/>
          <p:cNvGrpSpPr/>
          <p:nvPr/>
        </p:nvGrpSpPr>
        <p:grpSpPr>
          <a:xfrm>
            <a:off x="7330058" y="4751432"/>
            <a:ext cx="2513136" cy="648072"/>
            <a:chOff x="2721546" y="4077072"/>
            <a:chExt cx="2513136" cy="648072"/>
          </a:xfrm>
        </p:grpSpPr>
        <p:sp>
          <p:nvSpPr>
            <p:cNvPr id="51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2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3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4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5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56" name="직사각형 55"/>
          <p:cNvSpPr/>
          <p:nvPr/>
        </p:nvSpPr>
        <p:spPr bwMode="auto">
          <a:xfrm>
            <a:off x="7599140" y="4751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해당 버튼은 관리자일 경우 답변 버튼으로 보인다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  <a:p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답변버튼 클릭 시 </a:t>
            </a:r>
            <a:r>
              <a:rPr lang="en-US" altLang="ko-KR" dirty="0" smtClean="0">
                <a:solidFill>
                  <a:schemeClr val="tx1"/>
                </a:solidFill>
              </a:rPr>
              <a:t>6</a:t>
            </a:r>
            <a:r>
              <a:rPr lang="ko-KR" altLang="en-US" dirty="0" smtClean="0">
                <a:solidFill>
                  <a:schemeClr val="tx1"/>
                </a:solidFill>
              </a:rPr>
              <a:t>번이 해당된다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5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1734" y="455903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60" name="직사각형 59"/>
          <p:cNvSpPr/>
          <p:nvPr/>
        </p:nvSpPr>
        <p:spPr bwMode="auto">
          <a:xfrm>
            <a:off x="1929458" y="4990316"/>
            <a:ext cx="4896544" cy="1368152"/>
          </a:xfrm>
          <a:prstGeom prst="rect">
            <a:avLst/>
          </a:prstGeom>
          <a:noFill/>
          <a:ln w="12600" cap="sq">
            <a:solidFill>
              <a:srgbClr val="00B0F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450" y="488782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grpSp>
        <p:nvGrpSpPr>
          <p:cNvPr id="31" name="그룹 61"/>
          <p:cNvGrpSpPr/>
          <p:nvPr/>
        </p:nvGrpSpPr>
        <p:grpSpPr>
          <a:xfrm>
            <a:off x="7330058" y="5403696"/>
            <a:ext cx="2513136" cy="648072"/>
            <a:chOff x="2721546" y="4077072"/>
            <a:chExt cx="2513136" cy="648072"/>
          </a:xfrm>
        </p:grpSpPr>
        <p:sp>
          <p:nvSpPr>
            <p:cNvPr id="63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4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5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6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7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68" name="직사각형 67"/>
          <p:cNvSpPr/>
          <p:nvPr/>
        </p:nvSpPr>
        <p:spPr bwMode="auto">
          <a:xfrm>
            <a:off x="7599140" y="540369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번이 답변일 경우 버튼 클릭 시 해당 영역이 보여진다</a:t>
            </a:r>
            <a:r>
              <a:rPr lang="en-US" altLang="ko-KR" dirty="0" smtClean="0">
                <a:solidFill>
                  <a:schemeClr val="tx1"/>
                </a:solidFill>
              </a:rPr>
              <a:t>.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3D731E95-2861-4C32-8949-9A1D75E80C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" y="1197194"/>
            <a:ext cx="7234172" cy="4803574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2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3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5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일별 수주 내역 목록 표시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주문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r>
              <a:rPr lang="ko-KR" altLang="en-US" dirty="0">
                <a:solidFill>
                  <a:schemeClr val="tx1"/>
                </a:solidFill>
              </a:rPr>
              <a:t>반품처리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일자로 조회 기능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현재 시점 날짜로 캘린더 </a:t>
            </a:r>
            <a:r>
              <a:rPr lang="ko-KR" altLang="en-US" dirty="0" err="1">
                <a:solidFill>
                  <a:schemeClr val="tx1"/>
                </a:solidFill>
              </a:rPr>
              <a:t>픽커에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디폴트값</a:t>
            </a:r>
            <a:r>
              <a:rPr lang="ko-KR" altLang="en-US" dirty="0">
                <a:solidFill>
                  <a:schemeClr val="tx1"/>
                </a:solidFill>
              </a:rPr>
              <a:t> 넣기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반품요청에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반품요청건만</a:t>
            </a:r>
            <a:r>
              <a:rPr lang="ko-KR" altLang="en-US" dirty="0">
                <a:solidFill>
                  <a:schemeClr val="tx1"/>
                </a:solidFill>
              </a:rPr>
              <a:t> 조회되고 </a:t>
            </a:r>
            <a:r>
              <a:rPr lang="ko-KR" altLang="en-US" dirty="0" err="1">
                <a:solidFill>
                  <a:schemeClr val="tx1"/>
                </a:solidFill>
              </a:rPr>
              <a:t>반품미요청에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체크시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반품미요청건만</a:t>
            </a:r>
            <a:r>
              <a:rPr lang="ko-KR" altLang="en-US" dirty="0">
                <a:solidFill>
                  <a:schemeClr val="tx1"/>
                </a:solidFill>
              </a:rPr>
              <a:t> 조회 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라디오 버튼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총 재고 개수보다 주문개수가 많은 경우 협력사로 발주지시서 작성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작성 버튼 </a:t>
            </a:r>
            <a:r>
              <a:rPr lang="ko-KR" altLang="en-US" dirty="0" err="1">
                <a:solidFill>
                  <a:schemeClr val="tx1"/>
                </a:solidFill>
              </a:rPr>
              <a:t>클릭시</a:t>
            </a:r>
            <a:r>
              <a:rPr lang="ko-KR" altLang="en-US" dirty="0">
                <a:solidFill>
                  <a:schemeClr val="tx1"/>
                </a:solidFill>
              </a:rPr>
              <a:t> 배송지시서 작성 창 </a:t>
            </a:r>
            <a:r>
              <a:rPr lang="ko-KR" altLang="en-US" dirty="0" err="1">
                <a:solidFill>
                  <a:schemeClr val="tx1"/>
                </a:solidFill>
              </a:rPr>
              <a:t>팝업됨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배송지시서 작성 창에서 주문 개수 입력 후 저장하기 및 수정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배송지시서 상세 내역 목록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수정 저장 기능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제품 창고 선택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선택하면 창고의 총 재고 건수가 자동으로 표시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주문개수를 입력한다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 err="1">
                <a:solidFill>
                  <a:schemeClr val="tx1"/>
                </a:solidFill>
              </a:rPr>
              <a:t>입력값이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0 </a:t>
            </a:r>
            <a:r>
              <a:rPr lang="ko-KR" altLang="en-US" dirty="0" err="1">
                <a:solidFill>
                  <a:schemeClr val="tx1"/>
                </a:solidFill>
              </a:rPr>
              <a:t>이하거나</a:t>
            </a:r>
            <a:r>
              <a:rPr lang="ko-KR" altLang="en-US" dirty="0">
                <a:solidFill>
                  <a:schemeClr val="tx1"/>
                </a:solidFill>
              </a:rPr>
              <a:t> 총 재고 개수 이상 값이면 </a:t>
            </a:r>
            <a:r>
              <a:rPr lang="ko-KR" altLang="en-US" dirty="0" err="1">
                <a:solidFill>
                  <a:schemeClr val="tx1"/>
                </a:solidFill>
              </a:rPr>
              <a:t>경고창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64F68F8-0944-4DCD-BCE8-8F17AAF59EE6}"/>
              </a:ext>
            </a:extLst>
          </p:cNvPr>
          <p:cNvSpPr txBox="1"/>
          <p:nvPr/>
        </p:nvSpPr>
        <p:spPr>
          <a:xfrm>
            <a:off x="6343432" y="143378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③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967635E-0F3D-4DF0-8AA6-0152878DE172}"/>
              </a:ext>
            </a:extLst>
          </p:cNvPr>
          <p:cNvSpPr txBox="1"/>
          <p:nvPr/>
        </p:nvSpPr>
        <p:spPr>
          <a:xfrm>
            <a:off x="2566988" y="210947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①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631A248-77C2-4C48-ACE3-251140DAA0FD}"/>
              </a:ext>
            </a:extLst>
          </p:cNvPr>
          <p:cNvSpPr txBox="1"/>
          <p:nvPr/>
        </p:nvSpPr>
        <p:spPr>
          <a:xfrm>
            <a:off x="3989071" y="1678318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②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DA24CB-B690-4C21-8718-5AB901369AB1}"/>
              </a:ext>
            </a:extLst>
          </p:cNvPr>
          <p:cNvSpPr txBox="1"/>
          <p:nvPr/>
        </p:nvSpPr>
        <p:spPr>
          <a:xfrm>
            <a:off x="5552997" y="3552496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④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7BB768-2312-46ED-903C-BA676718CA9E}"/>
              </a:ext>
            </a:extLst>
          </p:cNvPr>
          <p:cNvSpPr txBox="1"/>
          <p:nvPr/>
        </p:nvSpPr>
        <p:spPr>
          <a:xfrm>
            <a:off x="4134802" y="3490933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⑤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F105ACB-247F-4A86-980A-6DA0F3407920}"/>
              </a:ext>
            </a:extLst>
          </p:cNvPr>
          <p:cNvSpPr txBox="1"/>
          <p:nvPr/>
        </p:nvSpPr>
        <p:spPr>
          <a:xfrm>
            <a:off x="3702252" y="4271370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⑥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DB55931-BE14-445D-8BB8-690065BA7464}"/>
              </a:ext>
            </a:extLst>
          </p:cNvPr>
          <p:cNvSpPr txBox="1"/>
          <p:nvPr/>
        </p:nvSpPr>
        <p:spPr>
          <a:xfrm>
            <a:off x="1137370" y="4747322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⑦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0D18E52-4D91-489B-B61C-29BC097951DA}"/>
              </a:ext>
            </a:extLst>
          </p:cNvPr>
          <p:cNvSpPr txBox="1"/>
          <p:nvPr/>
        </p:nvSpPr>
        <p:spPr>
          <a:xfrm>
            <a:off x="3915574" y="4936014"/>
            <a:ext cx="5888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</a:rPr>
              <a:t>⑧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B61FFDE1-A6FB-49FF-B589-ECB661E65538}"/>
              </a:ext>
            </a:extLst>
          </p:cNvPr>
          <p:cNvGrpSpPr/>
          <p:nvPr/>
        </p:nvGrpSpPr>
        <p:grpSpPr>
          <a:xfrm>
            <a:off x="7330058" y="6498771"/>
            <a:ext cx="2513136" cy="648072"/>
            <a:chOff x="2721546" y="4077072"/>
            <a:chExt cx="2513136" cy="648072"/>
          </a:xfrm>
        </p:grpSpPr>
        <p:sp>
          <p:nvSpPr>
            <p:cNvPr id="89" name="Rectangle 4">
              <a:extLst>
                <a:ext uri="{FF2B5EF4-FFF2-40B4-BE49-F238E27FC236}">
                  <a16:creationId xmlns:a16="http://schemas.microsoft.com/office/drawing/2014/main" id="{902EF26D-C1A7-4196-8FB4-CBB02C796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9</a:t>
              </a:r>
            </a:p>
          </p:txBody>
        </p:sp>
        <p:sp>
          <p:nvSpPr>
            <p:cNvPr id="90" name="Line 9">
              <a:extLst>
                <a:ext uri="{FF2B5EF4-FFF2-40B4-BE49-F238E27FC236}">
                  <a16:creationId xmlns:a16="http://schemas.microsoft.com/office/drawing/2014/main" id="{F36A6D56-E284-4963-897B-7D7564D4B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1" name="Line 10">
              <a:extLst>
                <a:ext uri="{FF2B5EF4-FFF2-40B4-BE49-F238E27FC236}">
                  <a16:creationId xmlns:a16="http://schemas.microsoft.com/office/drawing/2014/main" id="{64CD9CB4-3767-4894-BFDA-885AFBF6BD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" name="Line 11">
              <a:extLst>
                <a:ext uri="{FF2B5EF4-FFF2-40B4-BE49-F238E27FC236}">
                  <a16:creationId xmlns:a16="http://schemas.microsoft.com/office/drawing/2014/main" id="{ED955847-8337-42A2-9AA8-47E7371BD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3" name="Line 12">
              <a:extLst>
                <a:ext uri="{FF2B5EF4-FFF2-40B4-BE49-F238E27FC236}">
                  <a16:creationId xmlns:a16="http://schemas.microsoft.com/office/drawing/2014/main" id="{BAA3EF39-05E4-4667-88BE-A012BF7D4F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61BC15D6-93F6-42F8-91B4-1198D8704726}"/>
              </a:ext>
            </a:extLst>
          </p:cNvPr>
          <p:cNvSpPr/>
          <p:nvPr/>
        </p:nvSpPr>
        <p:spPr bwMode="auto">
          <a:xfrm>
            <a:off x="7605632" y="6489251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발주지시서 작성 후 저장 및 수정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049ED7B4-525B-4D04-A872-D00F82750A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 내역 </a:t>
            </a:r>
            <a:r>
              <a:rPr lang="en-US" altLang="ko-KR" dirty="0">
                <a:solidFill>
                  <a:srgbClr val="000000"/>
                </a:solidFill>
              </a:rPr>
              <a:t>– SCM </a:t>
            </a:r>
            <a:r>
              <a:rPr lang="ko-KR" altLang="en-US" dirty="0">
                <a:solidFill>
                  <a:srgbClr val="000000"/>
                </a:solidFill>
              </a:rPr>
              <a:t>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2">
            <a:extLst>
              <a:ext uri="{FF2B5EF4-FFF2-40B4-BE49-F238E27FC236}">
                <a16:creationId xmlns:a16="http://schemas.microsoft.com/office/drawing/2014/main" id="{1E5B2982-4D2D-483B-96A9-9F1870BAE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일별 수주 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6" name="Text Box 31">
            <a:extLst>
              <a:ext uri="{FF2B5EF4-FFF2-40B4-BE49-F238E27FC236}">
                <a16:creationId xmlns:a16="http://schemas.microsoft.com/office/drawing/2014/main" id="{D3A30C41-585A-4065-BECC-CE994940DB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dailyOrderHistory</a:t>
            </a:r>
            <a:endParaRPr lang="en-US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574057" y="1268760"/>
            <a:ext cx="2276281" cy="534535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</a:t>
            </a:r>
            <a:r>
              <a:rPr lang="ko-KR" altLang="en-US" dirty="0">
                <a:solidFill>
                  <a:schemeClr val="tx1"/>
                </a:solidFill>
              </a:rPr>
              <a:t>재고 조회 검색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검색조건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장비구분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창고명</a:t>
            </a:r>
            <a:r>
              <a:rPr lang="en-US" altLang="ko-KR" dirty="0">
                <a:solidFill>
                  <a:schemeClr val="tx1"/>
                </a:solidFill>
              </a:rPr>
              <a:t>,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모델명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제조사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98294" y="1947311"/>
            <a:ext cx="2252044" cy="640451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재고 조회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검색조건에 부합하는 장비의 재고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페이지를 처음 방문했을 시</a:t>
            </a:r>
            <a:r>
              <a:rPr lang="en-US" altLang="ko-KR" dirty="0">
                <a:solidFill>
                  <a:schemeClr val="tx1"/>
                </a:solidFill>
              </a:rPr>
              <a:t/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ko-KR" altLang="en-US" dirty="0">
                <a:solidFill>
                  <a:schemeClr val="tx1"/>
                </a:solidFill>
              </a:rPr>
              <a:t>전체 재고가 </a:t>
            </a:r>
            <a:r>
              <a:rPr lang="en-US" altLang="ko-KR" dirty="0">
                <a:solidFill>
                  <a:schemeClr val="tx1"/>
                </a:solidFill>
              </a:rPr>
              <a:t>default</a:t>
            </a:r>
            <a:r>
              <a:rPr lang="ko-KR" altLang="en-US" dirty="0">
                <a:solidFill>
                  <a:schemeClr val="tx1"/>
                </a:solidFill>
              </a:rPr>
              <a:t>로 조회되어 있음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● 입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출고 내역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조회된 제품의 입</a:t>
            </a:r>
            <a:r>
              <a:rPr lang="en-US" altLang="ko-KR" dirty="0">
                <a:solidFill>
                  <a:schemeClr val="tx1"/>
                </a:solidFill>
              </a:rPr>
              <a:t>/</a:t>
            </a:r>
            <a:r>
              <a:rPr lang="ko-KR" altLang="en-US" dirty="0">
                <a:solidFill>
                  <a:schemeClr val="tx1"/>
                </a:solidFill>
              </a:rPr>
              <a:t>출고 내역 조회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en-US" altLang="ko-KR" dirty="0" err="1">
                <a:solidFill>
                  <a:schemeClr val="tx1"/>
                </a:solidFill>
              </a:rPr>
              <a:t>scm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담당자가 남긴 이력을 가져옴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D9587-14E9-443A-A217-B9B1C382FBA6}"/>
              </a:ext>
            </a:extLst>
          </p:cNvPr>
          <p:cNvSpPr txBox="1"/>
          <p:nvPr/>
        </p:nvSpPr>
        <p:spPr>
          <a:xfrm>
            <a:off x="3225602" y="620688"/>
            <a:ext cx="152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회사임원</a:t>
            </a:r>
            <a:r>
              <a:rPr lang="en-US" altLang="ko-KR" dirty="0">
                <a:solidFill>
                  <a:schemeClr val="tx1"/>
                </a:solidFill>
              </a:rPr>
              <a:t>] </a:t>
            </a:r>
            <a:r>
              <a:rPr lang="ko-KR" altLang="en-US" dirty="0">
                <a:solidFill>
                  <a:schemeClr val="tx1"/>
                </a:solidFill>
              </a:rPr>
              <a:t>창고 별 재고 현황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3D79D-CEFD-4896-BB02-2A0D193D3FFE}"/>
              </a:ext>
            </a:extLst>
          </p:cNvPr>
          <p:cNvSpPr txBox="1"/>
          <p:nvPr/>
        </p:nvSpPr>
        <p:spPr>
          <a:xfrm>
            <a:off x="3225602" y="837292"/>
            <a:ext cx="9669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solidFill>
                  <a:schemeClr val="tx1"/>
                </a:solidFill>
              </a:rPr>
              <a:t>warehouse_stock</a:t>
            </a:r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6C1D10-8900-4E64-8AAA-4C20502C9F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58" y="1196753"/>
            <a:ext cx="7056776" cy="5184576"/>
          </a:xfrm>
          <a:prstGeom prst="rect">
            <a:avLst/>
          </a:prstGeom>
        </p:spPr>
      </p:pic>
      <p:sp>
        <p:nvSpPr>
          <p:cNvPr id="77" name="순서도: 연결자 76">
            <a:extLst>
              <a:ext uri="{FF2B5EF4-FFF2-40B4-BE49-F238E27FC236}">
                <a16:creationId xmlns:a16="http://schemas.microsoft.com/office/drawing/2014/main" id="{21E2FFC2-440B-4563-9FB5-D43885144382}"/>
              </a:ext>
            </a:extLst>
          </p:cNvPr>
          <p:cNvSpPr/>
          <p:nvPr/>
        </p:nvSpPr>
        <p:spPr bwMode="auto">
          <a:xfrm>
            <a:off x="6537970" y="1196752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0" name="순서도: 연결자 79">
            <a:extLst>
              <a:ext uri="{FF2B5EF4-FFF2-40B4-BE49-F238E27FC236}">
                <a16:creationId xmlns:a16="http://schemas.microsoft.com/office/drawing/2014/main" id="{258E3F91-6551-462A-ACFC-78362A3AAD41}"/>
              </a:ext>
            </a:extLst>
          </p:cNvPr>
          <p:cNvSpPr/>
          <p:nvPr/>
        </p:nvSpPr>
        <p:spPr bwMode="auto">
          <a:xfrm>
            <a:off x="6362474" y="3320988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순서도: 연결자 81">
            <a:extLst>
              <a:ext uri="{FF2B5EF4-FFF2-40B4-BE49-F238E27FC236}">
                <a16:creationId xmlns:a16="http://schemas.microsoft.com/office/drawing/2014/main" id="{50582E5C-2303-4B71-8464-79777B04C082}"/>
              </a:ext>
            </a:extLst>
          </p:cNvPr>
          <p:cNvSpPr/>
          <p:nvPr/>
        </p:nvSpPr>
        <p:spPr bwMode="auto">
          <a:xfrm>
            <a:off x="6321946" y="5516664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01115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53394" y="854130"/>
            <a:ext cx="127150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- </a:t>
            </a:r>
            <a:r>
              <a:rPr lang="ko-KR" altLang="en-US" dirty="0" smtClean="0">
                <a:solidFill>
                  <a:schemeClr val="tx1"/>
                </a:solidFill>
              </a:rPr>
              <a:t>기준정보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17690" y="629397"/>
            <a:ext cx="220124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SCM </a:t>
            </a:r>
            <a:r>
              <a:rPr lang="ko-KR" altLang="en-US" dirty="0" smtClean="0">
                <a:solidFill>
                  <a:schemeClr val="tx1"/>
                </a:solidFill>
              </a:rPr>
              <a:t>담당자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smtClean="0">
                <a:solidFill>
                  <a:schemeClr val="tx1"/>
                </a:solidFill>
              </a:rPr>
              <a:t>기준정보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err="1" smtClean="0">
                <a:solidFill>
                  <a:schemeClr val="tx1"/>
                </a:solidFill>
              </a:rPr>
              <a:t>창고별</a:t>
            </a:r>
            <a:r>
              <a:rPr lang="ko-KR" altLang="en-US" dirty="0" smtClean="0">
                <a:solidFill>
                  <a:schemeClr val="tx1"/>
                </a:solidFill>
              </a:rPr>
              <a:t> 재고 현황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206189" y="860178"/>
            <a:ext cx="9925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chemeClr val="tx1"/>
                </a:solidFill>
              </a:rPr>
              <a:t>whInventoryForm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pic>
        <p:nvPicPr>
          <p:cNvPr id="6" name="그림 5" descr="원동희 창고별 재고현황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29257" y="1196752"/>
            <a:ext cx="7082247" cy="5184576"/>
          </a:xfrm>
          <a:prstGeom prst="rect">
            <a:avLst/>
          </a:prstGeom>
        </p:spPr>
      </p:pic>
      <p:grpSp>
        <p:nvGrpSpPr>
          <p:cNvPr id="7" name="그룹 6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3" name="그룹 12"/>
          <p:cNvGrpSpPr/>
          <p:nvPr/>
        </p:nvGrpSpPr>
        <p:grpSpPr>
          <a:xfrm>
            <a:off x="7330058" y="1954932"/>
            <a:ext cx="2513136" cy="609972"/>
            <a:chOff x="2721546" y="4077072"/>
            <a:chExt cx="2513136" cy="648072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7330058" y="2564904"/>
            <a:ext cx="2513136" cy="648072"/>
            <a:chOff x="2721546" y="4077072"/>
            <a:chExt cx="2513136" cy="648072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31" name="직사각형 30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>
              <a:buFontTx/>
              <a:buChar char="-"/>
            </a:pPr>
            <a:r>
              <a:rPr lang="ko-KR" altLang="en-US" dirty="0" smtClean="0">
                <a:solidFill>
                  <a:schemeClr val="tx1"/>
                </a:solidFill>
              </a:rPr>
              <a:t> 검색 창의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ko-KR" altLang="en-US" dirty="0" smtClean="0">
                <a:solidFill>
                  <a:schemeClr val="tx1"/>
                </a:solidFill>
              </a:rPr>
              <a:t>의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선택된 값에 따라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 </a:t>
            </a:r>
            <a:r>
              <a:rPr lang="ko-KR" altLang="en-US" dirty="0" smtClean="0">
                <a:solidFill>
                  <a:schemeClr val="tx1"/>
                </a:solidFill>
              </a:rPr>
              <a:t>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32" name="직사각형 31"/>
          <p:cNvSpPr/>
          <p:nvPr/>
        </p:nvSpPr>
        <p:spPr bwMode="auto">
          <a:xfrm>
            <a:off x="7602850" y="25572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Sub-grid</a:t>
            </a:r>
            <a:r>
              <a:rPr lang="ko-KR" altLang="en-US" dirty="0" smtClean="0">
                <a:solidFill>
                  <a:schemeClr val="tx1"/>
                </a:solidFill>
              </a:rPr>
              <a:t>출력 시 선택 한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의 입</a:t>
            </a:r>
            <a:r>
              <a:rPr lang="en-US" altLang="ko-KR" dirty="0" smtClean="0">
                <a:solidFill>
                  <a:schemeClr val="tx1"/>
                </a:solidFill>
              </a:rPr>
              <a:t>/</a:t>
            </a:r>
            <a:r>
              <a:rPr lang="ko-KR" altLang="en-US" dirty="0" smtClean="0">
                <a:solidFill>
                  <a:schemeClr val="tx1"/>
                </a:solidFill>
              </a:rPr>
              <a:t>출고 목록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/>
          <p:cNvSpPr/>
          <p:nvPr/>
        </p:nvSpPr>
        <p:spPr bwMode="auto">
          <a:xfrm>
            <a:off x="7614380" y="1950740"/>
            <a:ext cx="2232248" cy="6099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Grid</a:t>
            </a:r>
            <a:r>
              <a:rPr lang="ko-KR" altLang="en-US" dirty="0" smtClean="0">
                <a:solidFill>
                  <a:schemeClr val="tx1"/>
                </a:solidFill>
              </a:rPr>
              <a:t>의 </a:t>
            </a:r>
            <a:r>
              <a:rPr lang="en-US" altLang="ko-KR" dirty="0" smtClean="0">
                <a:solidFill>
                  <a:schemeClr val="tx1"/>
                </a:solidFill>
              </a:rPr>
              <a:t>row</a:t>
            </a:r>
            <a:r>
              <a:rPr lang="ko-KR" altLang="en-US" dirty="0" smtClean="0">
                <a:solidFill>
                  <a:schemeClr val="tx1"/>
                </a:solidFill>
              </a:rPr>
              <a:t>선택 시 </a:t>
            </a:r>
            <a:r>
              <a:rPr lang="en-US" altLang="ko-KR" dirty="0" smtClean="0">
                <a:solidFill>
                  <a:schemeClr val="tx1"/>
                </a:solidFill>
              </a:rPr>
              <a:t>sub-grid </a:t>
            </a:r>
            <a:r>
              <a:rPr lang="ko-KR" altLang="en-US" dirty="0" smtClean="0">
                <a:solidFill>
                  <a:schemeClr val="tx1"/>
                </a:solidFill>
              </a:rPr>
              <a:t>출력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6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78066" y="195759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6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2852936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6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85442" y="450912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A08EE8E-5262-4C6A-9F84-BBA18B427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183" y="1125799"/>
            <a:ext cx="6470733" cy="5276728"/>
          </a:xfrm>
          <a:prstGeom prst="rect">
            <a:avLst/>
          </a:prstGeom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1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573582" y="1958360"/>
            <a:ext cx="2276756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정보</a:t>
            </a:r>
          </a:p>
        </p:txBody>
      </p:sp>
      <p:sp>
        <p:nvSpPr>
          <p:cNvPr id="79" name="직사각형 78"/>
          <p:cNvSpPr/>
          <p:nvPr/>
        </p:nvSpPr>
        <p:spPr bwMode="auto">
          <a:xfrm>
            <a:off x="7570431" y="2606432"/>
            <a:ext cx="2261239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반품이 보관될 물류창고 지정</a:t>
            </a:r>
          </a:p>
        </p:txBody>
      </p:sp>
      <p:sp>
        <p:nvSpPr>
          <p:cNvPr id="83" name="직사각형 82"/>
          <p:cNvSpPr/>
          <p:nvPr/>
        </p:nvSpPr>
        <p:spPr bwMode="auto">
          <a:xfrm>
            <a:off x="7570431" y="3243456"/>
            <a:ext cx="2283817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승인요청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임원 자동 승인으로 연계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>
                <a:solidFill>
                  <a:schemeClr val="tx1"/>
                </a:solidFill>
              </a:rPr>
              <a:t>입력창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1" name="Oval 39">
            <a:extLst>
              <a:ext uri="{FF2B5EF4-FFF2-40B4-BE49-F238E27FC236}">
                <a16:creationId xmlns:a16="http://schemas.microsoft.com/office/drawing/2014/main" id="{975E401D-32A8-49BF-A01B-0EAF53A63C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7712" y="1770742"/>
            <a:ext cx="215900" cy="21974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Text Box 2">
            <a:extLst>
              <a:ext uri="{FF2B5EF4-FFF2-40B4-BE49-F238E27FC236}">
                <a16:creationId xmlns:a16="http://schemas.microsoft.com/office/drawing/2014/main" id="{16BA03A2-E14D-4B1A-9D2A-924DCF92E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거래내역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3" name="Text Box 3">
            <a:extLst>
              <a:ext uri="{FF2B5EF4-FFF2-40B4-BE49-F238E27FC236}">
                <a16:creationId xmlns:a16="http://schemas.microsoft.com/office/drawing/2014/main" id="{7DD2D615-6C8E-4906-9EC2-AD271F04C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신청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6" name="Text Box 4">
            <a:extLst>
              <a:ext uri="{FF2B5EF4-FFF2-40B4-BE49-F238E27FC236}">
                <a16:creationId xmlns:a16="http://schemas.microsoft.com/office/drawing/2014/main" id="{D52E7162-C5AD-4396-8FDA-7217F449A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ReturnApplicationList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16">
            <a:extLst>
              <a:ext uri="{FF2B5EF4-FFF2-40B4-BE49-F238E27FC236}">
                <a16:creationId xmlns:a16="http://schemas.microsoft.com/office/drawing/2014/main" id="{A8C12AFD-BFE0-439E-8E37-0598033772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601661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80B74E-FA72-4212-A6AC-696A55272E85}"/>
              </a:ext>
            </a:extLst>
          </p:cNvPr>
          <p:cNvSpPr/>
          <p:nvPr/>
        </p:nvSpPr>
        <p:spPr bwMode="auto">
          <a:xfrm>
            <a:off x="8266163" y="653833"/>
            <a:ext cx="1440160" cy="182780"/>
          </a:xfrm>
          <a:prstGeom prst="rect">
            <a:avLst/>
          </a:prstGeom>
          <a:solidFill>
            <a:schemeClr val="bg1"/>
          </a:solidFill>
          <a:ln w="12600" cap="sq">
            <a:noFill/>
            <a:miter lim="800000"/>
            <a:headEnd/>
            <a:tailEnd/>
          </a:ln>
          <a:effectLst/>
        </p:spPr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전광복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822FEE87-2075-4944-BA81-B1A4DA0A7ABF}"/>
              </a:ext>
            </a:extLst>
          </p:cNvPr>
          <p:cNvSpPr/>
          <p:nvPr/>
        </p:nvSpPr>
        <p:spPr bwMode="auto">
          <a:xfrm>
            <a:off x="7574057" y="133930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반품 목록 조회</a:t>
            </a:r>
          </a:p>
        </p:txBody>
      </p:sp>
      <p:sp>
        <p:nvSpPr>
          <p:cNvPr id="81" name="Oval 41">
            <a:extLst>
              <a:ext uri="{FF2B5EF4-FFF2-40B4-BE49-F238E27FC236}">
                <a16:creationId xmlns:a16="http://schemas.microsoft.com/office/drawing/2014/main" id="{EA38D3A1-793D-4DEB-B082-7AABDB7922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1812" y="2313953"/>
            <a:ext cx="215900" cy="202365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82" name="Oval 41">
            <a:extLst>
              <a:ext uri="{FF2B5EF4-FFF2-40B4-BE49-F238E27FC236}">
                <a16:creationId xmlns:a16="http://schemas.microsoft.com/office/drawing/2014/main" id="{7166872A-7F0B-4F61-BF0E-FFDD5D933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69818" y="4300275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8" name="Oval 41">
            <a:extLst>
              <a:ext uri="{FF2B5EF4-FFF2-40B4-BE49-F238E27FC236}">
                <a16:creationId xmlns:a16="http://schemas.microsoft.com/office/drawing/2014/main" id="{F6F03444-0072-4BD4-94F9-16C2419E11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7690" y="5960457"/>
            <a:ext cx="215900" cy="228277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0210548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556792"/>
            <a:ext cx="187220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smtClean="0">
                <a:solidFill>
                  <a:schemeClr val="tx2"/>
                </a:solidFill>
              </a:rPr>
              <a:t>주문번호 클릭</a:t>
            </a:r>
            <a:endParaRPr lang="ko-KR" altLang="en-US" sz="1000">
              <a:solidFill>
                <a:schemeClr val="tx2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762106" y="2132856"/>
            <a:ext cx="15121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tx2"/>
                </a:solidFill>
              </a:rPr>
              <a:t>주문 상세 페이지 </a:t>
            </a:r>
            <a:r>
              <a:rPr lang="ko-KR" altLang="en-US" sz="1000" dirty="0" err="1" smtClean="0">
                <a:solidFill>
                  <a:schemeClr val="tx2"/>
                </a:solidFill>
              </a:rPr>
              <a:t>모달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73274" y="1628800"/>
            <a:ext cx="6912768" cy="44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466" y="378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84784"/>
            <a:ext cx="20162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accent4"/>
                </a:solidFill>
              </a:rPr>
              <a:t>제품명</a:t>
            </a:r>
            <a:r>
              <a:rPr lang="en-US" altLang="ko-KR" sz="1000" dirty="0" smtClean="0">
                <a:solidFill>
                  <a:schemeClr val="accent4"/>
                </a:solidFill>
              </a:rPr>
              <a:t>/</a:t>
            </a:r>
            <a:r>
              <a:rPr lang="ko-KR" altLang="en-US" sz="1000" dirty="0" smtClean="0">
                <a:solidFill>
                  <a:schemeClr val="accent4"/>
                </a:solidFill>
              </a:rPr>
              <a:t>발주업체로 검색 가능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34114" y="2060848"/>
            <a:ext cx="16561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err="1" smtClean="0">
                <a:solidFill>
                  <a:schemeClr val="accent4"/>
                </a:solidFill>
              </a:rPr>
              <a:t>날짜별</a:t>
            </a:r>
            <a:r>
              <a:rPr lang="ko-KR" altLang="en-US" sz="1000" dirty="0" smtClean="0">
                <a:solidFill>
                  <a:schemeClr val="accent4"/>
                </a:solidFill>
              </a:rPr>
              <a:t> 조회가능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17290" y="1772816"/>
            <a:ext cx="6465962" cy="40281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234888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7730" y="242088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grpSp>
        <p:nvGrpSpPr>
          <p:cNvPr id="2" name="그룹 16"/>
          <p:cNvGrpSpPr/>
          <p:nvPr/>
        </p:nvGrpSpPr>
        <p:grpSpPr>
          <a:xfrm>
            <a:off x="7337425" y="1309688"/>
            <a:ext cx="2501901" cy="1182688"/>
            <a:chOff x="7337425" y="1309688"/>
            <a:chExt cx="2501901" cy="1182688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309688"/>
              <a:ext cx="24447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77" name="Rectangle 6">
              <a:extLst>
                <a:ext uri="{FF2B5EF4-FFF2-40B4-BE49-F238E27FC236}">
                  <a16:creationId xmlns:a16="http://schemas.microsoft.com/office/drawing/2014/main" id="{3119F350-DF5C-4EFA-83F0-11AD6C8FE3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7425" y="1912938"/>
              <a:ext cx="24447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7178" name="Rectangle 7">
              <a:extLst>
                <a:ext uri="{FF2B5EF4-FFF2-40B4-BE49-F238E27FC236}">
                  <a16:creationId xmlns:a16="http://schemas.microsoft.com/office/drawing/2014/main" id="{360FBF34-0B33-47A3-BB2A-B3CCD9BDA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83488" y="1912938"/>
              <a:ext cx="2254250" cy="5778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7179" name="Line 8">
              <a:extLst>
                <a:ext uri="{FF2B5EF4-FFF2-40B4-BE49-F238E27FC236}">
                  <a16:creationId xmlns:a16="http://schemas.microsoft.com/office/drawing/2014/main" id="{7F7A0ACE-65A5-4EF1-B55A-CC308209EB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83488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91293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839326" y="1309688"/>
              <a:ext cx="0" cy="118110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1309688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4" name="Line 13">
              <a:extLst>
                <a:ext uri="{FF2B5EF4-FFF2-40B4-BE49-F238E27FC236}">
                  <a16:creationId xmlns:a16="http://schemas.microsoft.com/office/drawing/2014/main" id="{C5008E7D-00EB-48EC-B775-A0399F11AB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37425" y="2492376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16" name="TextBox 15"/>
          <p:cNvSpPr txBox="1"/>
          <p:nvPr/>
        </p:nvSpPr>
        <p:spPr>
          <a:xfrm>
            <a:off x="7690098" y="1412776"/>
            <a:ext cx="194421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accent4"/>
                </a:solidFill>
              </a:rPr>
              <a:t>기업 고객명으로 조회</a:t>
            </a:r>
            <a:endParaRPr lang="ko-KR" altLang="en-US" sz="1000" dirty="0">
              <a:solidFill>
                <a:schemeClr val="accent4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690098" y="2060848"/>
            <a:ext cx="18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 smtClean="0">
                <a:solidFill>
                  <a:schemeClr val="tx2"/>
                </a:solidFill>
              </a:rPr>
              <a:t>기간별 조회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25402" y="2492897"/>
            <a:ext cx="216024" cy="72008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pic>
        <p:nvPicPr>
          <p:cNvPr id="21" name="그림 20" descr="반품지시서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9258" y="2204864"/>
            <a:ext cx="7128792" cy="3581400"/>
          </a:xfrm>
          <a:prstGeom prst="rect">
            <a:avLst/>
          </a:prstGeom>
        </p:spPr>
      </p:pic>
      <p:sp>
        <p:nvSpPr>
          <p:cNvPr id="22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9418" y="2780928"/>
            <a:ext cx="216024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38" y="278092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협력업체에 발주를 하기 위한 목록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업체별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제품별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발주건의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출력당시 임원승인여부가 출력되고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값인 로우만 입금확인 버튼이 활성화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227171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purchaseOrderList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C3ABB32-E69C-4AE1-AED8-851A1A0D3D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306" y="1291392"/>
            <a:ext cx="5837007" cy="5105074"/>
          </a:xfrm>
          <a:prstGeom prst="rect">
            <a:avLst/>
          </a:prstGeom>
        </p:spPr>
      </p:pic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임원승인이 </a:t>
            </a:r>
            <a:r>
              <a:rPr lang="en-US" altLang="ko-KR" dirty="0">
                <a:solidFill>
                  <a:srgbClr val="000000"/>
                </a:solidFill>
              </a:rPr>
              <a:t>Y, </a:t>
            </a:r>
            <a:r>
              <a:rPr lang="ko-KR" altLang="en-US" dirty="0">
                <a:solidFill>
                  <a:srgbClr val="000000"/>
                </a:solidFill>
              </a:rPr>
              <a:t>입금확인 버튼을 누른 로우만 출력이 되고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배송 버튼을 클릭 시 </a:t>
            </a:r>
            <a:r>
              <a:rPr lang="en-US" altLang="ko-KR" dirty="0">
                <a:solidFill>
                  <a:srgbClr val="000000"/>
                </a:solidFill>
              </a:rPr>
              <a:t>DB</a:t>
            </a:r>
            <a:r>
              <a:rPr lang="ko-KR" altLang="en-US" dirty="0">
                <a:solidFill>
                  <a:srgbClr val="000000"/>
                </a:solidFill>
              </a:rPr>
              <a:t>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581" y="3748679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제품 발주</a:t>
            </a:r>
            <a:r>
              <a:rPr lang="en-US" altLang="ko-KR" dirty="0">
                <a:solidFill>
                  <a:srgbClr val="000000"/>
                </a:solidFill>
              </a:rPr>
              <a:t>/</a:t>
            </a:r>
            <a:r>
              <a:rPr lang="ko-KR" altLang="en-US" dirty="0">
                <a:solidFill>
                  <a:srgbClr val="000000"/>
                </a:solidFill>
              </a:rPr>
              <a:t>반품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구매담당자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반품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업체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제품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승인여부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반품 리스트가 디폴트로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입금확인 버튼을 누르면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값으로 값 변경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 dirty="0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2243753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returnOrderList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입금확인이 </a:t>
            </a:r>
            <a:r>
              <a:rPr lang="en-US" altLang="ko-KR" dirty="0">
                <a:solidFill>
                  <a:srgbClr val="000000"/>
                </a:solidFill>
              </a:rPr>
              <a:t>Y</a:t>
            </a:r>
            <a:r>
              <a:rPr lang="ko-KR" altLang="en-US" dirty="0">
                <a:solidFill>
                  <a:srgbClr val="000000"/>
                </a:solidFill>
              </a:rPr>
              <a:t>값이고</a:t>
            </a:r>
            <a:r>
              <a:rPr lang="en-US" altLang="ko-KR" dirty="0">
                <a:solidFill>
                  <a:srgbClr val="000000"/>
                </a:solidFill>
              </a:rPr>
              <a:t>, </a:t>
            </a:r>
            <a:r>
              <a:rPr lang="ko-KR" altLang="en-US" dirty="0">
                <a:solidFill>
                  <a:srgbClr val="000000"/>
                </a:solidFill>
              </a:rPr>
              <a:t>반품 버튼을 </a:t>
            </a:r>
            <a:r>
              <a:rPr lang="ko-KR" altLang="en-US" dirty="0" err="1">
                <a:solidFill>
                  <a:srgbClr val="000000"/>
                </a:solidFill>
              </a:rPr>
              <a:t>클릭시</a:t>
            </a:r>
            <a:r>
              <a:rPr lang="ko-KR" altLang="en-US" dirty="0">
                <a:solidFill>
                  <a:srgbClr val="000000"/>
                </a:solidFill>
              </a:rPr>
              <a:t> </a:t>
            </a:r>
            <a:r>
              <a:rPr lang="en-US" altLang="ko-KR" dirty="0">
                <a:solidFill>
                  <a:srgbClr val="000000"/>
                </a:solidFill>
              </a:rPr>
              <a:t>DB </a:t>
            </a:r>
            <a:r>
              <a:rPr lang="ko-KR" altLang="en-US" dirty="0">
                <a:solidFill>
                  <a:srgbClr val="000000"/>
                </a:solidFill>
              </a:rPr>
              <a:t>추가되고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3942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617680-27C4-4183-863D-B175E4D41B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274" y="1139692"/>
            <a:ext cx="5308383" cy="5241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0686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 </a:t>
            </a:r>
            <a:r>
              <a:rPr lang="en-US" altLang="ko-KR" dirty="0">
                <a:solidFill>
                  <a:srgbClr val="000000"/>
                </a:solidFill>
              </a:rPr>
              <a:t>- </a:t>
            </a:r>
            <a:r>
              <a:rPr lang="ko-KR" altLang="en-US" dirty="0">
                <a:solidFill>
                  <a:srgbClr val="000000"/>
                </a:solidFill>
              </a:rPr>
              <a:t>배송담당자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19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240" name="Rectangle 4">
            <a:extLst>
              <a:ext uri="{FF2B5EF4-FFF2-40B4-BE49-F238E27FC236}">
                <a16:creationId xmlns:a16="http://schemas.microsoft.com/office/drawing/2014/main" id="{952216C5-BF66-4097-A6F4-EABCED24D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1309688"/>
            <a:ext cx="244475" cy="711200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9241" name="Rectangle 5">
            <a:extLst>
              <a:ext uri="{FF2B5EF4-FFF2-40B4-BE49-F238E27FC236}">
                <a16:creationId xmlns:a16="http://schemas.microsoft.com/office/drawing/2014/main" id="{302E9E77-DF26-442B-86A1-C812F7639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1309688"/>
            <a:ext cx="2254250" cy="711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r>
              <a:rPr lang="ko-KR" altLang="en-US" dirty="0">
                <a:solidFill>
                  <a:srgbClr val="000000"/>
                </a:solidFill>
              </a:rPr>
              <a:t> 배송 목록 조회</a:t>
            </a:r>
            <a:endParaRPr lang="ko-KR" altLang="ko-KR" dirty="0">
              <a:solidFill>
                <a:srgbClr val="000000"/>
              </a:solidFill>
            </a:endParaRPr>
          </a:p>
          <a:p>
            <a:pPr eaLnBrk="1" hangingPunct="1">
              <a:spcBef>
                <a:spcPts val="200"/>
              </a:spcBef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 검색어</a:t>
            </a:r>
            <a:r>
              <a:rPr lang="en-US" altLang="ko-KR" dirty="0">
                <a:solidFill>
                  <a:srgbClr val="000000"/>
                </a:solidFill>
              </a:rPr>
              <a:t>,</a:t>
            </a:r>
            <a:r>
              <a:rPr lang="ko-KR" altLang="en-US" dirty="0">
                <a:solidFill>
                  <a:srgbClr val="000000"/>
                </a:solidFill>
              </a:rPr>
              <a:t>날짜 검색 등</a:t>
            </a:r>
            <a:r>
              <a:rPr lang="en-US" altLang="ko-KR" dirty="0">
                <a:solidFill>
                  <a:srgbClr val="000000"/>
                </a:solidFill>
              </a:rPr>
              <a:t> </a:t>
            </a:r>
            <a:r>
              <a:rPr lang="ko-KR" altLang="en-US" dirty="0">
                <a:solidFill>
                  <a:srgbClr val="000000"/>
                </a:solidFill>
              </a:rPr>
              <a:t>검색조건을 통해 검색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42" name="Rectangle 6">
            <a:extLst>
              <a:ext uri="{FF2B5EF4-FFF2-40B4-BE49-F238E27FC236}">
                <a16:creationId xmlns:a16="http://schemas.microsoft.com/office/drawing/2014/main" id="{B801E4F8-C8B3-450E-BC57-657AF9BE0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02247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9243" name="Rectangle 7">
            <a:extLst>
              <a:ext uri="{FF2B5EF4-FFF2-40B4-BE49-F238E27FC236}">
                <a16:creationId xmlns:a16="http://schemas.microsoft.com/office/drawing/2014/main" id="{F38D3CDD-4EF2-48CF-8B46-D0047EA521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83488" y="202247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모든 배송 리스트가 디폴트로 출력</a:t>
            </a:r>
          </a:p>
        </p:txBody>
      </p:sp>
      <p:sp>
        <p:nvSpPr>
          <p:cNvPr id="9244" name="Line 8">
            <a:extLst>
              <a:ext uri="{FF2B5EF4-FFF2-40B4-BE49-F238E27FC236}">
                <a16:creationId xmlns:a16="http://schemas.microsoft.com/office/drawing/2014/main" id="{59F6B022-E5FB-4188-9FC2-CB028CA70175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3488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5" name="Line 9">
            <a:extLst>
              <a:ext uri="{FF2B5EF4-FFF2-40B4-BE49-F238E27FC236}">
                <a16:creationId xmlns:a16="http://schemas.microsoft.com/office/drawing/2014/main" id="{643AE15C-280F-48D9-AADA-A889EAD8BEC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0224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6" name="Line 10">
            <a:extLst>
              <a:ext uri="{FF2B5EF4-FFF2-40B4-BE49-F238E27FC236}">
                <a16:creationId xmlns:a16="http://schemas.microsoft.com/office/drawing/2014/main" id="{1B82E214-FFF2-4ADF-8036-97ABF28528A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7" name="Line 11">
            <a:extLst>
              <a:ext uri="{FF2B5EF4-FFF2-40B4-BE49-F238E27FC236}">
                <a16:creationId xmlns:a16="http://schemas.microsoft.com/office/drawing/2014/main" id="{57A22713-6291-458F-8D4F-7B2F25CFC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9326" y="1309688"/>
            <a:ext cx="0" cy="139700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8" name="Line 12">
            <a:extLst>
              <a:ext uri="{FF2B5EF4-FFF2-40B4-BE49-F238E27FC236}">
                <a16:creationId xmlns:a16="http://schemas.microsoft.com/office/drawing/2014/main" id="{15019D8A-8DED-4592-9C7D-478285803B2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1309688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49" name="Line 13">
            <a:extLst>
              <a:ext uri="{FF2B5EF4-FFF2-40B4-BE49-F238E27FC236}">
                <a16:creationId xmlns:a16="http://schemas.microsoft.com/office/drawing/2014/main" id="{84BA3DA3-6506-429E-8848-E3440ACA43A8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0827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9221" name="Text Box 14">
            <a:extLst>
              <a:ext uri="{FF2B5EF4-FFF2-40B4-BE49-F238E27FC236}">
                <a16:creationId xmlns:a16="http://schemas.microsoft.com/office/drawing/2014/main" id="{4F9B98B4-F420-47C3-86A9-01F8839BA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938" y="857250"/>
            <a:ext cx="857250" cy="214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>
                <a:solidFill>
                  <a:srgbClr val="000000"/>
                </a:solidFill>
              </a:rPr>
              <a:t>1</a:t>
            </a:r>
          </a:p>
        </p:txBody>
      </p:sp>
      <p:grpSp>
        <p:nvGrpSpPr>
          <p:cNvPr id="2" name="Group 15">
            <a:extLst>
              <a:ext uri="{FF2B5EF4-FFF2-40B4-BE49-F238E27FC236}">
                <a16:creationId xmlns:a16="http://schemas.microsoft.com/office/drawing/2014/main" id="{05052B06-8723-488A-9DB1-436E0F439BB1}"/>
              </a:ext>
            </a:extLst>
          </p:cNvPr>
          <p:cNvGrpSpPr>
            <a:grpSpLocks/>
          </p:cNvGrpSpPr>
          <p:nvPr/>
        </p:nvGrpSpPr>
        <p:grpSpPr bwMode="auto">
          <a:xfrm>
            <a:off x="7329488" y="5559425"/>
            <a:ext cx="2516187" cy="942975"/>
            <a:chOff x="4617" y="3502"/>
            <a:chExt cx="1585" cy="594"/>
          </a:xfrm>
        </p:grpSpPr>
        <p:sp>
          <p:nvSpPr>
            <p:cNvPr id="9228" name="Rectangle 16">
              <a:extLst>
                <a:ext uri="{FF2B5EF4-FFF2-40B4-BE49-F238E27FC236}">
                  <a16:creationId xmlns:a16="http://schemas.microsoft.com/office/drawing/2014/main" id="{4FFB2A9E-0E3E-4FCF-9DFB-2495C243E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502"/>
              <a:ext cx="1585" cy="133"/>
            </a:xfrm>
            <a:prstGeom prst="rect">
              <a:avLst/>
            </a:prstGeom>
            <a:solidFill>
              <a:srgbClr val="7F7F7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>
                  <a:solidFill>
                    <a:srgbClr val="FFFFFF"/>
                  </a:solidFill>
                </a:rPr>
                <a:t>Table Information</a:t>
              </a:r>
            </a:p>
          </p:txBody>
        </p:sp>
        <p:sp>
          <p:nvSpPr>
            <p:cNvPr id="9229" name="Rectangle 17">
              <a:extLst>
                <a:ext uri="{FF2B5EF4-FFF2-40B4-BE49-F238E27FC236}">
                  <a16:creationId xmlns:a16="http://schemas.microsoft.com/office/drawing/2014/main" id="{E1092D76-F0C5-48CD-997F-5D7C7826A5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636"/>
              <a:ext cx="40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0" name="Rectangle 18">
              <a:extLst>
                <a:ext uri="{FF2B5EF4-FFF2-40B4-BE49-F238E27FC236}">
                  <a16:creationId xmlns:a16="http://schemas.microsoft.com/office/drawing/2014/main" id="{B60379A7-2870-42F8-BB9E-B247E67EC9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636"/>
              <a:ext cx="1177" cy="2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1" name="Rectangle 19">
              <a:extLst>
                <a:ext uri="{FF2B5EF4-FFF2-40B4-BE49-F238E27FC236}">
                  <a16:creationId xmlns:a16="http://schemas.microsoft.com/office/drawing/2014/main" id="{CB9B08E7-22D9-4FBA-A159-CE6690D36D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3924"/>
              <a:ext cx="40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2" name="Rectangle 20">
              <a:extLst>
                <a:ext uri="{FF2B5EF4-FFF2-40B4-BE49-F238E27FC236}">
                  <a16:creationId xmlns:a16="http://schemas.microsoft.com/office/drawing/2014/main" id="{86C4735C-368B-4960-B6D6-7C4B0789D8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5" y="3924"/>
              <a:ext cx="1177" cy="1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ko-KR" altLang="en-US"/>
            </a:p>
          </p:txBody>
        </p:sp>
        <p:sp>
          <p:nvSpPr>
            <p:cNvPr id="9233" name="Line 21">
              <a:extLst>
                <a:ext uri="{FF2B5EF4-FFF2-40B4-BE49-F238E27FC236}">
                  <a16:creationId xmlns:a16="http://schemas.microsoft.com/office/drawing/2014/main" id="{AE499D40-A6D5-4201-898F-713EFB89CC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5" y="3636"/>
              <a:ext cx="0" cy="46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4" name="Line 22">
              <a:extLst>
                <a:ext uri="{FF2B5EF4-FFF2-40B4-BE49-F238E27FC236}">
                  <a16:creationId xmlns:a16="http://schemas.microsoft.com/office/drawing/2014/main" id="{E2E941B6-6013-4E53-A3A5-BE0B68D86C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636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5" name="Line 23">
              <a:extLst>
                <a:ext uri="{FF2B5EF4-FFF2-40B4-BE49-F238E27FC236}">
                  <a16:creationId xmlns:a16="http://schemas.microsoft.com/office/drawing/2014/main" id="{B544E8C9-8179-4621-A01C-3DAC958480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924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6" name="Line 24">
              <a:extLst>
                <a:ext uri="{FF2B5EF4-FFF2-40B4-BE49-F238E27FC236}">
                  <a16:creationId xmlns:a16="http://schemas.microsoft.com/office/drawing/2014/main" id="{B461FB42-3A77-484C-9123-B265C01498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7" name="Line 25">
              <a:extLst>
                <a:ext uri="{FF2B5EF4-FFF2-40B4-BE49-F238E27FC236}">
                  <a16:creationId xmlns:a16="http://schemas.microsoft.com/office/drawing/2014/main" id="{5BF831E4-94D2-42F4-BBD6-D852D409EC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03" y="3502"/>
              <a:ext cx="0" cy="594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8" name="Line 26">
              <a:extLst>
                <a:ext uri="{FF2B5EF4-FFF2-40B4-BE49-F238E27FC236}">
                  <a16:creationId xmlns:a16="http://schemas.microsoft.com/office/drawing/2014/main" id="{205E453D-ACD0-463D-8A6A-17E820E96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3502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9239" name="Line 27">
              <a:extLst>
                <a:ext uri="{FF2B5EF4-FFF2-40B4-BE49-F238E27FC236}">
                  <a16:creationId xmlns:a16="http://schemas.microsoft.com/office/drawing/2014/main" id="{0208E863-3A28-4B92-AA61-16FBBA7E25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17" y="4097"/>
              <a:ext cx="1585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922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963" y="121443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9225" name="Oval 30">
            <a:extLst>
              <a:ext uri="{FF2B5EF4-FFF2-40B4-BE49-F238E27FC236}">
                <a16:creationId xmlns:a16="http://schemas.microsoft.com/office/drawing/2014/main" id="{D70CB454-8B2E-45B1-BD22-EE4B09E52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2373710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9226" name="Text Box 31">
            <a:extLst>
              <a:ext uri="{FF2B5EF4-FFF2-40B4-BE49-F238E27FC236}">
                <a16:creationId xmlns:a16="http://schemas.microsoft.com/office/drawing/2014/main" id="{1FBECDF9-E41A-47B2-A90C-F9DAC817DC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863600"/>
            <a:ext cx="2871787" cy="188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tIns="46800" rIns="36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orderList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9227" name="Text Box 32">
            <a:extLst>
              <a:ext uri="{FF2B5EF4-FFF2-40B4-BE49-F238E27FC236}">
                <a16:creationId xmlns:a16="http://schemas.microsoft.com/office/drawing/2014/main" id="{EE993E68-385C-4F2E-8C39-FE9E10E55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>
                <a:solidFill>
                  <a:srgbClr val="000000"/>
                </a:solidFill>
                <a:latin typeface="HY견고딕" panose="02030600000101010101" pitchFamily="18" charset="-127"/>
              </a:rPr>
              <a:t>LMS</a:t>
            </a:r>
          </a:p>
        </p:txBody>
      </p:sp>
      <p:sp>
        <p:nvSpPr>
          <p:cNvPr id="39" name="Line 9">
            <a:extLst>
              <a:ext uri="{FF2B5EF4-FFF2-40B4-BE49-F238E27FC236}">
                <a16:creationId xmlns:a16="http://schemas.microsoft.com/office/drawing/2014/main" id="{BBC998A5-770C-4775-B836-57D3CC547A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272018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49" name="Rectangle 6">
            <a:extLst>
              <a:ext uri="{FF2B5EF4-FFF2-40B4-BE49-F238E27FC236}">
                <a16:creationId xmlns:a16="http://schemas.microsoft.com/office/drawing/2014/main" id="{E2B46FF1-782D-46DE-BC50-AA78279BC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37425" y="2723356"/>
            <a:ext cx="244475" cy="684213"/>
          </a:xfrm>
          <a:prstGeom prst="rect">
            <a:avLst/>
          </a:prstGeom>
          <a:solidFill>
            <a:srgbClr val="EAEAE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r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3</a:t>
            </a:r>
          </a:p>
        </p:txBody>
      </p:sp>
      <p:sp>
        <p:nvSpPr>
          <p:cNvPr id="50" name="Rectangle 7">
            <a:extLst>
              <a:ext uri="{FF2B5EF4-FFF2-40B4-BE49-F238E27FC236}">
                <a16:creationId xmlns:a16="http://schemas.microsoft.com/office/drawing/2014/main" id="{029A33BF-4889-433C-BE91-2CD69F68E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6088" y="2723356"/>
            <a:ext cx="2254250" cy="684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>
                <a:solidFill>
                  <a:srgbClr val="000000"/>
                </a:solidFill>
              </a:rPr>
              <a:t> - </a:t>
            </a:r>
            <a:r>
              <a:rPr lang="ko-KR" altLang="en-US" dirty="0">
                <a:solidFill>
                  <a:srgbClr val="000000"/>
                </a:solidFill>
              </a:rPr>
              <a:t>클릭한 로우의 정보 </a:t>
            </a:r>
            <a:r>
              <a:rPr lang="ko-KR" altLang="en-US" dirty="0" err="1">
                <a:solidFill>
                  <a:srgbClr val="000000"/>
                </a:solidFill>
              </a:rPr>
              <a:t>모달창</a:t>
            </a:r>
            <a:r>
              <a:rPr lang="ko-KR" altLang="en-US" dirty="0">
                <a:solidFill>
                  <a:srgbClr val="000000"/>
                </a:solidFill>
              </a:rPr>
              <a:t> 출력</a:t>
            </a:r>
            <a:endParaRPr lang="en-US" altLang="ko-KR" dirty="0">
              <a:solidFill>
                <a:srgbClr val="000000"/>
              </a:solidFill>
            </a:endParaRPr>
          </a:p>
          <a:p>
            <a:pPr marL="171450" indent="-171450" eaLnBrk="1" hangingPunct="1">
              <a:spcBef>
                <a:spcPts val="200"/>
              </a:spcBef>
              <a:buClrTx/>
              <a:buFont typeface="Arial" panose="020B0604020202020204" pitchFamily="34" charset="0"/>
              <a:buChar char="•"/>
            </a:pPr>
            <a:r>
              <a:rPr lang="ko-KR" altLang="en-US" dirty="0">
                <a:solidFill>
                  <a:srgbClr val="000000"/>
                </a:solidFill>
              </a:rPr>
              <a:t>로우의 정보가 출력되고 배송완료 버튼을 </a:t>
            </a:r>
            <a:r>
              <a:rPr lang="ko-KR" altLang="en-US" dirty="0" err="1">
                <a:solidFill>
                  <a:srgbClr val="000000"/>
                </a:solidFill>
              </a:rPr>
              <a:t>누를시</a:t>
            </a:r>
            <a:r>
              <a:rPr lang="ko-KR" altLang="en-US" dirty="0">
                <a:solidFill>
                  <a:srgbClr val="000000"/>
                </a:solidFill>
              </a:rPr>
              <a:t> 배송상태 변경 후 창 닫기</a:t>
            </a:r>
            <a:endParaRPr lang="en-US" altLang="ko-KR" dirty="0">
              <a:solidFill>
                <a:srgbClr val="000000"/>
              </a:solidFill>
            </a:endParaRPr>
          </a:p>
        </p:txBody>
      </p:sp>
      <p:sp>
        <p:nvSpPr>
          <p:cNvPr id="51" name="Line 9">
            <a:extLst>
              <a:ext uri="{FF2B5EF4-FFF2-40B4-BE49-F238E27FC236}">
                <a16:creationId xmlns:a16="http://schemas.microsoft.com/office/drawing/2014/main" id="{31B7746F-C096-4AF2-8DCB-3191B94ECC6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27233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2" name="Line 13">
            <a:extLst>
              <a:ext uri="{FF2B5EF4-FFF2-40B4-BE49-F238E27FC236}">
                <a16:creationId xmlns:a16="http://schemas.microsoft.com/office/drawing/2014/main" id="{839C2134-C111-4429-B5F6-942BB81AF7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7425" y="3409156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3" name="Line 9">
            <a:extLst>
              <a:ext uri="{FF2B5EF4-FFF2-40B4-BE49-F238E27FC236}">
                <a16:creationId xmlns:a16="http://schemas.microsoft.com/office/drawing/2014/main" id="{22AF7C94-AEA9-451B-9F55-0663D08383BA}"/>
              </a:ext>
            </a:extLst>
          </p:cNvPr>
          <p:cNvSpPr>
            <a:spLocks noChangeShapeType="1"/>
          </p:cNvSpPr>
          <p:nvPr/>
        </p:nvSpPr>
        <p:spPr bwMode="auto">
          <a:xfrm>
            <a:off x="7345362" y="3421061"/>
            <a:ext cx="2500313" cy="0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4" name="Line 8">
            <a:extLst>
              <a:ext uri="{FF2B5EF4-FFF2-40B4-BE49-F238E27FC236}">
                <a16:creationId xmlns:a16="http://schemas.microsoft.com/office/drawing/2014/main" id="{FA7863E2-E33E-4400-BF86-BD803606C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581900" y="2730501"/>
            <a:ext cx="0" cy="661986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5" name="Line 8">
            <a:extLst>
              <a:ext uri="{FF2B5EF4-FFF2-40B4-BE49-F238E27FC236}">
                <a16:creationId xmlns:a16="http://schemas.microsoft.com/office/drawing/2014/main" id="{4817900E-D6AD-4BFD-8397-02602085C6CC}"/>
              </a:ext>
            </a:extLst>
          </p:cNvPr>
          <p:cNvSpPr>
            <a:spLocks noChangeShapeType="1"/>
          </p:cNvSpPr>
          <p:nvPr/>
        </p:nvSpPr>
        <p:spPr bwMode="auto">
          <a:xfrm>
            <a:off x="9837738" y="2706688"/>
            <a:ext cx="0" cy="714373"/>
          </a:xfrm>
          <a:prstGeom prst="line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ja-JP" altLang="en-US"/>
          </a:p>
        </p:txBody>
      </p:sp>
      <p:sp>
        <p:nvSpPr>
          <p:cNvPr id="57" name="Oval 30">
            <a:extLst>
              <a:ext uri="{FF2B5EF4-FFF2-40B4-BE49-F238E27FC236}">
                <a16:creationId xmlns:a16="http://schemas.microsoft.com/office/drawing/2014/main" id="{260D6879-9D03-4AE0-86FD-D948784B43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375" y="4072667"/>
            <a:ext cx="144463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AA62C13-6455-439D-8075-4E2B2434BF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09" y="1147763"/>
            <a:ext cx="5836227" cy="4419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5412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기능 구현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에서 전체 선택 시 전체조회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리스트 조회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반품 지시서 전체 목록을 조회하며 값이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 smtClean="0">
                <a:solidFill>
                  <a:schemeClr val="tx1"/>
                </a:solidFill>
              </a:rPr>
              <a:t>페이징</a:t>
            </a:r>
            <a:r>
              <a:rPr lang="ko-KR" altLang="en-US" dirty="0" smtClean="0">
                <a:solidFill>
                  <a:schemeClr val="tx1"/>
                </a:solidFill>
              </a:rPr>
              <a:t> 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 Grid </a:t>
            </a:r>
            <a:r>
              <a:rPr lang="ko-KR" altLang="en-US" dirty="0" smtClean="0">
                <a:solidFill>
                  <a:schemeClr val="tx1"/>
                </a:solidFill>
              </a:rPr>
              <a:t>구현</a:t>
            </a:r>
            <a:r>
              <a:rPr lang="en-US" altLang="ko-KR" dirty="0" smtClean="0">
                <a:solidFill>
                  <a:schemeClr val="tx1"/>
                </a:solidFill>
              </a:rPr>
              <a:t>, Main Grid </a:t>
            </a:r>
            <a:r>
              <a:rPr lang="ko-KR" altLang="en-US" dirty="0" smtClean="0">
                <a:solidFill>
                  <a:schemeClr val="tx1"/>
                </a:solidFill>
              </a:rPr>
              <a:t>에서 </a:t>
            </a:r>
            <a:r>
              <a:rPr lang="en-US" altLang="ko-KR" dirty="0" smtClean="0">
                <a:solidFill>
                  <a:schemeClr val="tx1"/>
                </a:solidFill>
              </a:rPr>
              <a:t>No. </a:t>
            </a:r>
            <a:r>
              <a:rPr lang="ko-KR" altLang="en-US" dirty="0" smtClean="0">
                <a:solidFill>
                  <a:schemeClr val="tx1"/>
                </a:solidFill>
              </a:rPr>
              <a:t>를 기준으로 값 선택 시 상세내역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재고 처리 버튼 클릭 시  </a:t>
            </a:r>
            <a:r>
              <a:rPr lang="en-US" altLang="ko-KR" dirty="0" smtClean="0">
                <a:solidFill>
                  <a:schemeClr val="tx1"/>
                </a:solidFill>
              </a:rPr>
              <a:t>Alert </a:t>
            </a:r>
            <a:r>
              <a:rPr lang="ko-KR" altLang="en-US" dirty="0" smtClean="0">
                <a:solidFill>
                  <a:schemeClr val="tx1"/>
                </a:solidFill>
              </a:rPr>
              <a:t>창이 열리게 되며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확인 선택 시 재고처리 및 상태 변경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반품 수량에 대해서 창고 물량 증가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 descr="C:\Users\yoomir\Desktop\yoomir\기업 고객 - 반품 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24638" y="1142984"/>
            <a:ext cx="6357981" cy="5300967"/>
          </a:xfrm>
          <a:prstGeom prst="rect">
            <a:avLst/>
          </a:prstGeom>
          <a:noFill/>
        </p:spPr>
      </p:pic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배송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담당자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기업고객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yoomir\Desktop\yoomir\제품 발주_반품 - 발주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10390" y="1142984"/>
            <a:ext cx="6072230" cy="5290431"/>
          </a:xfrm>
          <a:prstGeom prst="rect">
            <a:avLst/>
          </a:prstGeom>
          <a:noFill/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기능 구현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에서 전체 선택 시 전체조회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리스트 조회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임원 승인 완료 된 목록만 조회하며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값이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 smtClean="0">
                <a:solidFill>
                  <a:schemeClr val="tx1"/>
                </a:solidFill>
              </a:rPr>
              <a:t>페이징</a:t>
            </a:r>
            <a:r>
              <a:rPr lang="ko-KR" altLang="en-US" dirty="0" smtClean="0">
                <a:solidFill>
                  <a:schemeClr val="tx1"/>
                </a:solidFill>
              </a:rPr>
              <a:t> 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 Grid </a:t>
            </a:r>
            <a:r>
              <a:rPr lang="ko-KR" altLang="en-US" dirty="0" smtClean="0">
                <a:solidFill>
                  <a:schemeClr val="tx1"/>
                </a:solidFill>
              </a:rPr>
              <a:t>구현</a:t>
            </a:r>
            <a:r>
              <a:rPr lang="en-US" altLang="ko-KR" dirty="0" smtClean="0">
                <a:solidFill>
                  <a:schemeClr val="tx1"/>
                </a:solidFill>
              </a:rPr>
              <a:t>, Main Grid </a:t>
            </a:r>
            <a:r>
              <a:rPr lang="ko-KR" altLang="en-US" dirty="0" smtClean="0">
                <a:solidFill>
                  <a:schemeClr val="tx1"/>
                </a:solidFill>
              </a:rPr>
              <a:t>에서 </a:t>
            </a:r>
            <a:r>
              <a:rPr lang="en-US" altLang="ko-KR" dirty="0" smtClean="0">
                <a:solidFill>
                  <a:schemeClr val="tx1"/>
                </a:solidFill>
              </a:rPr>
              <a:t>No. </a:t>
            </a:r>
            <a:r>
              <a:rPr lang="ko-KR" altLang="en-US" dirty="0" smtClean="0">
                <a:solidFill>
                  <a:schemeClr val="tx1"/>
                </a:solidFill>
              </a:rPr>
              <a:t>를 기준으로 값 선택 시 상세내역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발주 처리 버튼 클릭 시  </a:t>
            </a:r>
            <a:r>
              <a:rPr lang="en-US" altLang="ko-KR" dirty="0" smtClean="0">
                <a:solidFill>
                  <a:schemeClr val="tx1"/>
                </a:solidFill>
              </a:rPr>
              <a:t>Alert </a:t>
            </a:r>
            <a:r>
              <a:rPr lang="ko-KR" altLang="en-US" dirty="0" smtClean="0">
                <a:solidFill>
                  <a:schemeClr val="tx1"/>
                </a:solidFill>
              </a:rPr>
              <a:t>창이 열리게 되며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확인 선택 시 발주처리 및 상태 변경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배송 준비 </a:t>
            </a:r>
            <a:r>
              <a:rPr lang="en-US" altLang="ko-KR" dirty="0" smtClean="0">
                <a:solidFill>
                  <a:schemeClr val="tx1"/>
                </a:solidFill>
              </a:rPr>
              <a:t>&gt; </a:t>
            </a:r>
            <a:r>
              <a:rPr lang="ko-KR" altLang="en-US" dirty="0" smtClean="0">
                <a:solidFill>
                  <a:schemeClr val="tx1"/>
                </a:solidFill>
              </a:rPr>
              <a:t>배송 완료 상태로 변경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53398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배송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담당자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제품 발주</a:t>
            </a:r>
            <a:r>
              <a:rPr lang="en-US" altLang="ko-KR" dirty="0" smtClean="0">
                <a:solidFill>
                  <a:srgbClr val="000000"/>
                </a:solidFill>
              </a:rPr>
              <a:t>/</a:t>
            </a:r>
            <a:r>
              <a:rPr lang="ko-KR" altLang="en-US" dirty="0" smtClean="0">
                <a:solidFill>
                  <a:srgbClr val="000000"/>
                </a:solidFill>
              </a:rPr>
              <a:t>반품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발주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yoomir\Desktop\yoomir\제품 발주_반품 - 반품 지시서 목록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6076" y="1142983"/>
            <a:ext cx="6357983" cy="5300969"/>
          </a:xfrm>
          <a:prstGeom prst="rect">
            <a:avLst/>
          </a:prstGeom>
          <a:noFill/>
        </p:spPr>
      </p:pic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검색 기능 구현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 - </a:t>
            </a:r>
            <a:r>
              <a:rPr lang="en-US" altLang="ko-KR" dirty="0" err="1" smtClean="0">
                <a:solidFill>
                  <a:schemeClr val="tx1"/>
                </a:solidFill>
              </a:rPr>
              <a:t>ComboBox</a:t>
            </a:r>
            <a:r>
              <a:rPr lang="en-US" altLang="ko-KR" dirty="0" smtClean="0">
                <a:solidFill>
                  <a:schemeClr val="tx1"/>
                </a:solidFill>
              </a:rPr>
              <a:t> </a:t>
            </a:r>
            <a:r>
              <a:rPr lang="ko-KR" altLang="en-US" dirty="0" smtClean="0">
                <a:solidFill>
                  <a:schemeClr val="tx1"/>
                </a:solidFill>
              </a:rPr>
              <a:t>에서 전체 선택 시 전체조회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리스트 조회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입금 확인된 건에 대해서만  조회하며 값이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개를 초과할 시 한 페이지 당 </a:t>
            </a:r>
            <a:r>
              <a:rPr lang="en-US" altLang="ko-KR" dirty="0" smtClean="0">
                <a:solidFill>
                  <a:schemeClr val="tx1"/>
                </a:solidFill>
              </a:rPr>
              <a:t>5</a:t>
            </a:r>
            <a:r>
              <a:rPr lang="ko-KR" altLang="en-US" dirty="0" smtClean="0">
                <a:solidFill>
                  <a:schemeClr val="tx1"/>
                </a:solidFill>
              </a:rPr>
              <a:t>개씩 출력 및 </a:t>
            </a:r>
            <a:r>
              <a:rPr lang="ko-KR" altLang="en-US" dirty="0" err="1" smtClean="0">
                <a:solidFill>
                  <a:schemeClr val="tx1"/>
                </a:solidFill>
              </a:rPr>
              <a:t>페이징</a:t>
            </a:r>
            <a:r>
              <a:rPr lang="ko-KR" altLang="en-US" dirty="0" smtClean="0">
                <a:solidFill>
                  <a:schemeClr val="tx1"/>
                </a:solidFill>
              </a:rPr>
              <a:t> 처리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en-US" altLang="ko-KR" dirty="0" smtClean="0">
                <a:solidFill>
                  <a:schemeClr val="tx1"/>
                </a:solidFill>
              </a:rPr>
              <a:t>Sub Grid </a:t>
            </a:r>
            <a:r>
              <a:rPr lang="ko-KR" altLang="en-US" dirty="0" smtClean="0">
                <a:solidFill>
                  <a:schemeClr val="tx1"/>
                </a:solidFill>
              </a:rPr>
              <a:t>구현</a:t>
            </a:r>
            <a:r>
              <a:rPr lang="en-US" altLang="ko-KR" dirty="0" smtClean="0">
                <a:solidFill>
                  <a:schemeClr val="tx1"/>
                </a:solidFill>
              </a:rPr>
              <a:t>, Main Grid </a:t>
            </a:r>
            <a:r>
              <a:rPr lang="ko-KR" altLang="en-US" dirty="0" smtClean="0">
                <a:solidFill>
                  <a:schemeClr val="tx1"/>
                </a:solidFill>
              </a:rPr>
              <a:t>에서 </a:t>
            </a:r>
            <a:r>
              <a:rPr lang="en-US" altLang="ko-KR" dirty="0" smtClean="0">
                <a:solidFill>
                  <a:schemeClr val="tx1"/>
                </a:solidFill>
              </a:rPr>
              <a:t>No. </a:t>
            </a:r>
            <a:r>
              <a:rPr lang="ko-KR" altLang="en-US" dirty="0" smtClean="0">
                <a:solidFill>
                  <a:schemeClr val="tx1"/>
                </a:solidFill>
              </a:rPr>
              <a:t>를 기준으로 값 선택 시 상세내역 출력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재고 처리 버튼 클릭 시  </a:t>
            </a:r>
            <a:r>
              <a:rPr lang="en-US" altLang="ko-KR" dirty="0" smtClean="0">
                <a:solidFill>
                  <a:schemeClr val="tx1"/>
                </a:solidFill>
              </a:rPr>
              <a:t>Alert </a:t>
            </a:r>
            <a:r>
              <a:rPr lang="ko-KR" altLang="en-US" dirty="0" smtClean="0">
                <a:solidFill>
                  <a:schemeClr val="tx1"/>
                </a:solidFill>
              </a:rPr>
              <a:t>창이 열리게 되며</a:t>
            </a:r>
            <a:r>
              <a:rPr lang="en-US" altLang="ko-KR" dirty="0" smtClean="0">
                <a:solidFill>
                  <a:schemeClr val="tx1"/>
                </a:solidFill>
              </a:rPr>
              <a:t>, </a:t>
            </a:r>
            <a:r>
              <a:rPr lang="ko-KR" altLang="en-US" dirty="0" smtClean="0">
                <a:solidFill>
                  <a:schemeClr val="tx1"/>
                </a:solidFill>
              </a:rPr>
              <a:t>확인 선택 시 재고처리 및 상태 변경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ko-KR" altLang="en-US" dirty="0" smtClean="0">
                <a:solidFill>
                  <a:schemeClr val="tx1"/>
                </a:solidFill>
              </a:rPr>
              <a:t>반품 수량에 대해서 창고 물량 증가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194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4836" y="1214422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95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171448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6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0522" y="3500438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197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25364" y="5214950"/>
            <a:ext cx="214314" cy="214314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41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배송</a:t>
            </a:r>
            <a:r>
              <a:rPr lang="en-US" altLang="ko-KR" dirty="0" smtClean="0">
                <a:solidFill>
                  <a:srgbClr val="000000"/>
                </a:solidFill>
              </a:rPr>
              <a:t> </a:t>
            </a:r>
            <a:r>
              <a:rPr lang="ko-KR" altLang="en-US" dirty="0" smtClean="0">
                <a:solidFill>
                  <a:srgbClr val="000000"/>
                </a:solidFill>
              </a:rPr>
              <a:t>담당자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제품 발주</a:t>
            </a:r>
            <a:r>
              <a:rPr lang="en-US" altLang="ko-KR" dirty="0" smtClean="0">
                <a:solidFill>
                  <a:srgbClr val="000000"/>
                </a:solidFill>
              </a:rPr>
              <a:t>/</a:t>
            </a:r>
            <a:r>
              <a:rPr lang="ko-KR" altLang="en-US" dirty="0" smtClean="0">
                <a:solidFill>
                  <a:srgbClr val="000000"/>
                </a:solidFill>
              </a:rPr>
              <a:t>반품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47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68042" y="857232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반품 지시서 목록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7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8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기업고객명 검색 입력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거래날짜 기간 검색 선택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기업고객명 </a:t>
            </a:r>
            <a:r>
              <a:rPr lang="ko-KR" altLang="en-US" dirty="0" err="1" smtClean="0">
                <a:solidFill>
                  <a:schemeClr val="tx1"/>
                </a:solidFill>
              </a:rPr>
              <a:t>선택시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해당 기업고객명의 거래내역 보여짐</a:t>
            </a: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최근 거래 날짜 순으로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1026" name="Picture 2" descr="C:\Users\asd55\Desktop\오성철\매출 현황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2" y="1130209"/>
            <a:ext cx="7200000" cy="5304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3287" y="208489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2436" y="218014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426" y="265635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90" name="직사각형 89"/>
          <p:cNvSpPr/>
          <p:nvPr/>
        </p:nvSpPr>
        <p:spPr bwMode="auto">
          <a:xfrm>
            <a:off x="7614280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미 검색 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기간의 대한</a:t>
            </a:r>
            <a:endParaRPr lang="en-US" altLang="ko-KR" dirty="0" smtClean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기업고객별 매출 리스트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매출액 </a:t>
            </a:r>
            <a:r>
              <a:rPr lang="ko-KR" altLang="en-US" dirty="0" err="1" smtClean="0">
                <a:solidFill>
                  <a:schemeClr val="tx1"/>
                </a:solidFill>
              </a:rPr>
              <a:t>높은순으로</a:t>
            </a:r>
            <a:r>
              <a:rPr lang="ko-KR" altLang="en-US" dirty="0" smtClean="0">
                <a:solidFill>
                  <a:schemeClr val="tx1"/>
                </a:solidFill>
              </a:rPr>
              <a:t> 정렬</a:t>
            </a:r>
            <a:r>
              <a:rPr lang="en-US" altLang="ko-KR" dirty="0" smtClean="0">
                <a:solidFill>
                  <a:schemeClr val="tx1"/>
                </a:solidFill>
              </a:rPr>
              <a:t>(</a:t>
            </a:r>
            <a:r>
              <a:rPr lang="en-US" altLang="ko-KR" dirty="0" err="1" smtClean="0">
                <a:solidFill>
                  <a:schemeClr val="tx1"/>
                </a:solidFill>
              </a:rPr>
              <a:t>desc</a:t>
            </a:r>
            <a:r>
              <a:rPr lang="en-US" altLang="ko-KR" dirty="0" smtClean="0">
                <a:solidFill>
                  <a:schemeClr val="tx1"/>
                </a:solidFill>
              </a:rPr>
              <a:t>)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9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1506" y="413136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9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7359" y="510347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 smtClean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  <a:endParaRPr lang="en-US" altLang="ko-KR" dirty="0">
              <a:solidFill>
                <a:srgbClr val="FF0000"/>
              </a:solidFill>
              <a:latin typeface="Lucida Sans" panose="020B0602030504020204" pitchFamily="34" charset="0"/>
            </a:endParaRPr>
          </a:p>
        </p:txBody>
      </p:sp>
      <p:sp>
        <p:nvSpPr>
          <p:cNvPr id="93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4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salesStatus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95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매출 현황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 smtClean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  <a:endParaRPr lang="en-US" altLang="ko-KR" sz="1600" dirty="0">
              <a:solidFill>
                <a:srgbClr val="000000"/>
              </a:solidFill>
              <a:latin typeface="HY견고딕" panose="02030600000101010101" pitchFamily="18" charset="-127"/>
            </a:endParaRP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1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2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3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4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5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6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7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 smtClean="0">
                  <a:solidFill>
                    <a:srgbClr val="000000"/>
                  </a:solidFill>
                </a:rPr>
                <a:t>8</a:t>
              </a:r>
              <a:endParaRPr lang="en-US" altLang="ko-KR" dirty="0">
                <a:solidFill>
                  <a:srgbClr val="000000"/>
                </a:solidFill>
              </a:endParaRP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기간별로 검색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미</a:t>
            </a:r>
            <a:r>
              <a:rPr lang="ko-KR" altLang="en-US" dirty="0" smtClean="0">
                <a:solidFill>
                  <a:schemeClr val="tx1"/>
                </a:solidFill>
              </a:rPr>
              <a:t> </a:t>
            </a:r>
            <a:r>
              <a:rPr lang="ko-KR" altLang="en-US" dirty="0" err="1" smtClean="0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기간의 대한 순위 목록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smtClean="0">
                <a:solidFill>
                  <a:schemeClr val="tx1"/>
                </a:solidFill>
              </a:rPr>
              <a:t>미 </a:t>
            </a:r>
            <a:r>
              <a:rPr lang="ko-KR" altLang="en-US" dirty="0" err="1" smtClean="0">
                <a:solidFill>
                  <a:schemeClr val="tx1"/>
                </a:solidFill>
              </a:rPr>
              <a:t>검색시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 smtClean="0">
                <a:solidFill>
                  <a:schemeClr val="tx1"/>
                </a:solidFill>
              </a:rPr>
              <a:t>전체 거래 기간에 대한 차트</a:t>
            </a:r>
            <a:endParaRPr lang="en-US" altLang="ko-KR" dirty="0" smtClean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 err="1" smtClean="0">
                <a:solidFill>
                  <a:schemeClr val="tx1"/>
                </a:solidFill>
              </a:rPr>
              <a:t>입력창</a:t>
            </a:r>
            <a:endParaRPr lang="ko-KR" altLang="en-US" dirty="0" smtClean="0">
              <a:solidFill>
                <a:schemeClr val="tx1"/>
              </a:solidFill>
            </a:endParaRPr>
          </a:p>
        </p:txBody>
      </p:sp>
      <p:pic>
        <p:nvPicPr>
          <p:cNvPr id="2050" name="Picture 2" descr="C:\Users\asd55\Desktop\오성철\매출 상위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0" y="1097311"/>
            <a:ext cx="7200000" cy="53644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9858" y="242357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72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1826" y="3472242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73" name="Oval 29">
            <a:extLst>
              <a:ext uri="{FF2B5EF4-FFF2-40B4-BE49-F238E27FC236}">
                <a16:creationId xmlns:a16="http://schemas.microsoft.com/office/drawing/2014/main" id="{7F80208A-DACE-467D-B929-DA9E9A6C7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562" y="3065140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76" name="Text Box 1">
            <a:extLst>
              <a:ext uri="{FF2B5EF4-FFF2-40B4-BE49-F238E27FC236}">
                <a16:creationId xmlns:a16="http://schemas.microsoft.com/office/drawing/2014/main" id="{E5787823-9005-4E1E-B204-D135EAF126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현황 </a:t>
            </a:r>
            <a:r>
              <a:rPr lang="en-US" altLang="ko-KR" dirty="0" smtClean="0">
                <a:solidFill>
                  <a:srgbClr val="000000"/>
                </a:solidFill>
              </a:rPr>
              <a:t>– </a:t>
            </a:r>
            <a:r>
              <a:rPr lang="ko-KR" altLang="en-US" dirty="0" smtClean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7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ko-KR" altLang="en-US" dirty="0" smtClean="0">
                <a:solidFill>
                  <a:srgbClr val="000000"/>
                </a:solidFill>
              </a:rPr>
              <a:t>매출 상위</a:t>
            </a: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78" name="Text Box 2">
            <a:extLst>
              <a:ext uri="{FF2B5EF4-FFF2-40B4-BE49-F238E27FC236}">
                <a16:creationId xmlns:a16="http://schemas.microsoft.com/office/drawing/2014/main" id="{0E577DB6-2E58-4E0C-BB38-E721673B9E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</a:pPr>
            <a:r>
              <a:rPr lang="en-US" altLang="ko-KR" dirty="0" err="1">
                <a:solidFill>
                  <a:srgbClr val="000000"/>
                </a:solidFill>
              </a:rPr>
              <a:t>s</a:t>
            </a:r>
            <a:r>
              <a:rPr lang="en-US" altLang="ko-KR" dirty="0" err="1" smtClean="0">
                <a:solidFill>
                  <a:srgbClr val="000000"/>
                </a:solidFill>
              </a:rPr>
              <a:t>alesTop</a:t>
            </a:r>
            <a:endParaRPr lang="ko-KR" altLang="ko-KR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6907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/>
          <p:cNvSpPr txBox="1">
            <a:spLocks noChangeArrowheads="1"/>
          </p:cNvSpPr>
          <p:nvPr/>
        </p:nvSpPr>
        <p:spPr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>
              <a:buClrTx/>
              <a:buFontTx/>
              <a:buNone/>
              <a:defRPr/>
            </a:pPr>
            <a:r>
              <a:rPr lang="en-US" altLang="ko-KR" sz="1600">
                <a:solidFill>
                  <a:srgbClr val="000000"/>
                </a:solidFill>
                <a:latin typeface="HY견고딕"/>
              </a:rPr>
              <a:t>SCM</a:t>
            </a:r>
          </a:p>
        </p:txBody>
      </p:sp>
      <p:grpSp>
        <p:nvGrpSpPr>
          <p:cNvPr id="2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1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2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183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3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6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7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28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4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38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39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0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5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4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5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46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6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0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1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2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7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6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7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58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8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2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3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4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grpSp>
        <p:nvGrpSpPr>
          <p:cNvPr id="9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/>
            <p:cNvSpPr>
              <a:spLocks noChangeArrowheads="1"/>
            </p:cNvSpPr>
            <p:nvPr/>
          </p:nvSpPr>
          <p:spPr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1pPr>
              <a:lvl2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2pPr>
              <a:lvl3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3pPr>
              <a:lvl4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4pPr>
              <a:lvl5pPr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/>
                  <a:ea typeface="맑은 고딕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  <a:defRPr/>
              </a:pPr>
              <a:r>
                <a:rPr lang="en-US" altLang="ko-KR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/>
            <p:cNvSpPr>
              <a:spLocks noChangeShapeType="1"/>
            </p:cNvSpPr>
            <p:nvPr/>
          </p:nvSpPr>
          <p:spPr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8" name="Line 10"/>
            <p:cNvSpPr>
              <a:spLocks noChangeShapeType="1"/>
            </p:cNvSpPr>
            <p:nvPr/>
          </p:nvSpPr>
          <p:spPr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69" name="Line 11"/>
            <p:cNvSpPr>
              <a:spLocks noChangeShapeType="1"/>
            </p:cNvSpPr>
            <p:nvPr/>
          </p:nvSpPr>
          <p:spPr>
            <a:xfrm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  <p:sp>
          <p:nvSpPr>
            <p:cNvPr id="70" name="Line 12"/>
            <p:cNvSpPr>
              <a:spLocks noChangeShapeType="1"/>
            </p:cNvSpPr>
            <p:nvPr/>
          </p:nvSpPr>
          <p:spPr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/>
            </a:ln>
            <a:effectLst/>
          </p:spPr>
          <p:txBody>
            <a:bodyPr wrap="square"/>
            <a:lstStyle/>
            <a:p>
              <a:pPr lvl="0">
                <a:defRPr/>
              </a:pPr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>
          <a:xfrm>
            <a:off x="7618090" y="1299240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기업고객명 검색 입력 란</a:t>
            </a:r>
            <a:endParaRPr lang="en-US" altLang="ko-KR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7618090" y="1958360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거래 기간 검색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미 검색 시</a:t>
            </a:r>
          </a:p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전체 거래 기간의 대한 기업 별 손익 리스트</a:t>
            </a:r>
          </a:p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총 손익이 높은 순으로 정렬</a:t>
            </a:r>
            <a:r>
              <a:rPr lang="en-US" altLang="ko-KR">
                <a:solidFill>
                  <a:schemeClr val="tx1"/>
                </a:solidFill>
              </a:rPr>
              <a:t>(desc)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기업명 클릭 시</a:t>
            </a:r>
          </a:p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해당 기업의 판매제품의 대한 손익 리스트</a:t>
            </a:r>
          </a:p>
        </p:txBody>
      </p:sp>
      <p:sp>
        <p:nvSpPr>
          <p:cNvPr id="84" name="직사각형 83"/>
          <p:cNvSpPr/>
          <p:nvPr/>
        </p:nvSpPr>
        <p:spPr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최근 거래 날짜 순으로 정렬</a:t>
            </a:r>
            <a:r>
              <a:rPr lang="en-US" altLang="ko-KR">
                <a:solidFill>
                  <a:schemeClr val="tx1"/>
                </a:solidFill>
              </a:rPr>
              <a:t>(desc)</a:t>
            </a: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입력창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입력창</a:t>
            </a:r>
          </a:p>
        </p:txBody>
      </p:sp>
      <p:sp>
        <p:nvSpPr>
          <p:cNvPr id="87" name="직사각형 86"/>
          <p:cNvSpPr/>
          <p:nvPr/>
        </p:nvSpPr>
        <p:spPr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/>
          </a:ln>
          <a:effectLst/>
        </p:spPr>
        <p:txBody>
          <a:bodyPr anchor="ctr"/>
          <a:lstStyle/>
          <a:p>
            <a:pPr lvl="0">
              <a:defRPr/>
            </a:pPr>
            <a:r>
              <a:rPr lang="ko-KR" altLang="en-US">
                <a:solidFill>
                  <a:schemeClr val="tx1"/>
                </a:solidFill>
              </a:rPr>
              <a:t>입력창</a:t>
            </a:r>
          </a:p>
        </p:txBody>
      </p:sp>
      <p:pic>
        <p:nvPicPr>
          <p:cNvPr id="3074" name="Picture 2" descr="C:\Users\asd55\Desktop\오성철\손익 조회.png"/>
          <p:cNvPicPr>
            <a:picLocks noChangeAspect="1" noChangeArrowheads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7250" y="1130382"/>
            <a:ext cx="7272332" cy="5364482"/>
          </a:xfrm>
          <a:prstGeom prst="rect">
            <a:avLst/>
          </a:prstGeom>
          <a:noFill/>
        </p:spPr>
      </p:pic>
      <p:sp>
        <p:nvSpPr>
          <p:cNvPr id="71" name="Oval 29"/>
          <p:cNvSpPr>
            <a:spLocks noChangeArrowheads="1"/>
          </p:cNvSpPr>
          <p:nvPr/>
        </p:nvSpPr>
        <p:spPr>
          <a:xfrm>
            <a:off x="1766887" y="28352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3</a:t>
            </a:r>
          </a:p>
        </p:txBody>
      </p:sp>
      <p:sp>
        <p:nvSpPr>
          <p:cNvPr id="72" name="Oval 29"/>
          <p:cNvSpPr>
            <a:spLocks noChangeArrowheads="1"/>
          </p:cNvSpPr>
          <p:nvPr/>
        </p:nvSpPr>
        <p:spPr>
          <a:xfrm>
            <a:off x="5673874" y="233611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2</a:t>
            </a:r>
          </a:p>
        </p:txBody>
      </p:sp>
      <p:sp>
        <p:nvSpPr>
          <p:cNvPr id="73" name="Oval 29"/>
          <p:cNvSpPr>
            <a:spLocks noChangeArrowheads="1"/>
          </p:cNvSpPr>
          <p:nvPr/>
        </p:nvSpPr>
        <p:spPr>
          <a:xfrm>
            <a:off x="2217490" y="4357484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4</a:t>
            </a:r>
          </a:p>
        </p:txBody>
      </p:sp>
      <p:sp>
        <p:nvSpPr>
          <p:cNvPr id="76" name="Oval 29"/>
          <p:cNvSpPr>
            <a:spLocks noChangeArrowheads="1"/>
          </p:cNvSpPr>
          <p:nvPr/>
        </p:nvSpPr>
        <p:spPr>
          <a:xfrm>
            <a:off x="6537970" y="5097378"/>
            <a:ext cx="142875" cy="190500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/>
          </a:ln>
          <a:effectLst/>
        </p:spPr>
        <p:txBody>
          <a:bodyPr lIns="89999" tIns="46800" rIns="89999" bIns="468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>
              <a:buClrTx/>
              <a:buFontTx/>
              <a:buNone/>
              <a:defRPr/>
            </a:pPr>
            <a:r>
              <a:rPr lang="en-US" altLang="ko-KR">
                <a:solidFill>
                  <a:srgbClr val="FF0000"/>
                </a:solidFill>
                <a:latin typeface="Lucida Sans"/>
              </a:rPr>
              <a:t>5</a:t>
            </a:r>
          </a:p>
        </p:txBody>
      </p:sp>
      <p:sp>
        <p:nvSpPr>
          <p:cNvPr id="77" name="Text Box 1"/>
          <p:cNvSpPr txBox="1">
            <a:spLocks noChangeArrowheads="1"/>
          </p:cNvSpPr>
          <p:nvPr/>
        </p:nvSpPr>
        <p:spPr>
          <a:xfrm>
            <a:off x="1065213" y="836613"/>
            <a:ext cx="1501775" cy="2159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ko-KR" altLang="en-US">
                <a:solidFill>
                  <a:srgbClr val="000000"/>
                </a:solidFill>
              </a:rPr>
              <a:t>매출 현황 </a:t>
            </a:r>
            <a:r>
              <a:rPr lang="en-US" altLang="ko-KR">
                <a:solidFill>
                  <a:srgbClr val="000000"/>
                </a:solidFill>
              </a:rPr>
              <a:t>– </a:t>
            </a:r>
            <a:r>
              <a:rPr lang="ko-KR" altLang="en-US">
                <a:solidFill>
                  <a:srgbClr val="000000"/>
                </a:solidFill>
              </a:rPr>
              <a:t>손익 조회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78" name="Text Box 2"/>
          <p:cNvSpPr txBox="1">
            <a:spLocks noChangeArrowheads="1"/>
          </p:cNvSpPr>
          <p:nvPr/>
        </p:nvSpPr>
        <p:spPr>
          <a:xfrm>
            <a:off x="3287713" y="633413"/>
            <a:ext cx="287972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ko-KR" altLang="en-US">
                <a:solidFill>
                  <a:srgbClr val="000000"/>
                </a:solidFill>
              </a:rPr>
              <a:t>손익 조회</a:t>
            </a:r>
            <a:endParaRPr lang="ko-KR" altLang="ko-KR">
              <a:solidFill>
                <a:srgbClr val="000000"/>
              </a:solidFill>
            </a:endParaRPr>
          </a:p>
        </p:txBody>
      </p:sp>
      <p:sp>
        <p:nvSpPr>
          <p:cNvPr id="80" name="Text Box 2"/>
          <p:cNvSpPr txBox="1">
            <a:spLocks noChangeArrowheads="1"/>
          </p:cNvSpPr>
          <p:nvPr/>
        </p:nvSpPr>
        <p:spPr>
          <a:xfrm>
            <a:off x="3279359" y="862013"/>
            <a:ext cx="2879725" cy="228600"/>
          </a:xfrm>
          <a:prstGeom prst="rect">
            <a:avLst/>
          </a:prstGeom>
          <a:noFill/>
          <a:ln>
            <a:noFill/>
          </a:ln>
          <a:effectLst/>
        </p:spPr>
        <p:txBody>
          <a:bodyPr lIns="36000" rIns="36000" anchor="ctr"/>
          <a:lstStyle>
            <a:lvl1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/>
              <a:tabLst>
                <a:tab pos="569913" algn="l"/>
                <a:tab pos="1484313" algn="l"/>
                <a:tab pos="2398713" algn="l"/>
                <a:tab pos="3313113" algn="l"/>
                <a:tab pos="4227513" algn="l"/>
                <a:tab pos="5141913" algn="l"/>
                <a:tab pos="6056313" algn="l"/>
                <a:tab pos="6970713" algn="l"/>
                <a:tab pos="7885113" algn="l"/>
                <a:tab pos="8799513" algn="l"/>
                <a:tab pos="9713913" algn="l"/>
              </a:tabLst>
              <a:defRPr sz="8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r" eaLnBrk="1" hangingPunct="1">
              <a:spcBef>
                <a:spcPts val="200"/>
              </a:spcBef>
              <a:buClrTx/>
              <a:buFontTx/>
              <a:buNone/>
              <a:defRPr/>
            </a:pPr>
            <a:r>
              <a:rPr lang="en-US" altLang="ko-KR">
                <a:solidFill>
                  <a:srgbClr val="000000"/>
                </a:solidFill>
              </a:rPr>
              <a:t>profitAndLoss</a:t>
            </a:r>
            <a:endParaRPr lang="ko-KR" altLang="ko-KR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2235363"/>
              </p:ext>
            </p:extLst>
          </p:nvPr>
        </p:nvGraphicFramePr>
        <p:xfrm>
          <a:off x="0" y="639763"/>
          <a:ext cx="9907588" cy="6218237"/>
        </p:xfrm>
        <a:graphic>
          <a:graphicData uri="http://schemas.openxmlformats.org/drawingml/2006/table">
            <a:tbl>
              <a:tblPr/>
              <a:tblGrid>
                <a:gridCol w="1018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5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OrderConfirm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1981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6709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구매일자별로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6D210471-8B68-4E65-83B8-B879323F7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5" y="1412782"/>
            <a:ext cx="7263867" cy="4680514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969" y="24986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257" y="247904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1" name="Oval 31">
            <a:extLst>
              <a:ext uri="{FF2B5EF4-FFF2-40B4-BE49-F238E27FC236}">
                <a16:creationId xmlns:a16="http://schemas.microsoft.com/office/drawing/2014/main" id="{72895E62-1C9C-413A-ACAF-D79608972E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834" y="326723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grpSp>
        <p:nvGrpSpPr>
          <p:cNvPr id="4" name="그룹 31">
            <a:extLst>
              <a:ext uri="{FF2B5EF4-FFF2-40B4-BE49-F238E27FC236}">
                <a16:creationId xmlns:a16="http://schemas.microsoft.com/office/drawing/2014/main" id="{755F27BB-B2F9-43C0-A1D5-2C585C80B4B9}"/>
              </a:ext>
            </a:extLst>
          </p:cNvPr>
          <p:cNvGrpSpPr/>
          <p:nvPr/>
        </p:nvGrpSpPr>
        <p:grpSpPr>
          <a:xfrm>
            <a:off x="7367818" y="1306513"/>
            <a:ext cx="2522705" cy="3655953"/>
            <a:chOff x="10066361" y="1944946"/>
            <a:chExt cx="2522705" cy="3655953"/>
          </a:xfrm>
        </p:grpSpPr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6C3F2E28-28C6-42B1-B4C1-A05BC50E79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289573FB-CB46-457A-8D4E-8AE2EBB08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5" name="Rectangle 6">
              <a:extLst>
                <a:ext uri="{FF2B5EF4-FFF2-40B4-BE49-F238E27FC236}">
                  <a16:creationId xmlns:a16="http://schemas.microsoft.com/office/drawing/2014/main" id="{83838A26-5719-435D-AEE9-D359B3699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6" name="Line 10">
              <a:extLst>
                <a:ext uri="{FF2B5EF4-FFF2-40B4-BE49-F238E27FC236}">
                  <a16:creationId xmlns:a16="http://schemas.microsoft.com/office/drawing/2014/main" id="{FF1850CE-3699-411C-ACAD-18C285B526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7" name="Rectangle 4">
              <a:extLst>
                <a:ext uri="{FF2B5EF4-FFF2-40B4-BE49-F238E27FC236}">
                  <a16:creationId xmlns:a16="http://schemas.microsoft.com/office/drawing/2014/main" id="{021BE609-BAE2-4A3A-8223-66579B560C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8" name="Rectangle 6">
              <a:extLst>
                <a:ext uri="{FF2B5EF4-FFF2-40B4-BE49-F238E27FC236}">
                  <a16:creationId xmlns:a16="http://schemas.microsoft.com/office/drawing/2014/main" id="{1B01B28A-AF58-46BD-8ACA-E76A0DAE37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AF7DED43-5338-410D-961D-6DCE00A03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0" name="Rectangle 6">
              <a:extLst>
                <a:ext uri="{FF2B5EF4-FFF2-40B4-BE49-F238E27FC236}">
                  <a16:creationId xmlns:a16="http://schemas.microsoft.com/office/drawing/2014/main" id="{CCF3327D-3B2C-4451-9D82-25AE54C52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1" name="Line 9">
              <a:extLst>
                <a:ext uri="{FF2B5EF4-FFF2-40B4-BE49-F238E27FC236}">
                  <a16:creationId xmlns:a16="http://schemas.microsoft.com/office/drawing/2014/main" id="{2CEEBEC6-FFE5-4E3E-A67A-FED39BF930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50E88B74-91D1-4672-8567-F415A3736D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FBE211D5-F8DD-49CA-AAAC-52529232E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54BFCED1-2FDB-4C0C-95A9-5199641815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13">
              <a:extLst>
                <a:ext uri="{FF2B5EF4-FFF2-40B4-BE49-F238E27FC236}">
                  <a16:creationId xmlns:a16="http://schemas.microsoft.com/office/drawing/2014/main" id="{D6006908-5865-4891-B81B-FA4DCE0A70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8">
              <a:extLst>
                <a:ext uri="{FF2B5EF4-FFF2-40B4-BE49-F238E27FC236}">
                  <a16:creationId xmlns:a16="http://schemas.microsoft.com/office/drawing/2014/main" id="{57D0D508-2D79-4B84-8DE3-C35795C43C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7" name="Line 12">
              <a:extLst>
                <a:ext uri="{FF2B5EF4-FFF2-40B4-BE49-F238E27FC236}">
                  <a16:creationId xmlns:a16="http://schemas.microsoft.com/office/drawing/2014/main" id="{562E49AF-F136-4412-A33F-76CEA10A2F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9761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60236"/>
              </p:ext>
            </p:extLst>
          </p:nvPr>
        </p:nvGraphicFramePr>
        <p:xfrm>
          <a:off x="0" y="620688"/>
          <a:ext cx="9907590" cy="6218634"/>
        </p:xfrm>
        <a:graphic>
          <a:graphicData uri="http://schemas.openxmlformats.org/drawingml/2006/table">
            <a:tbl>
              <a:tblPr/>
              <a:tblGrid>
                <a:gridCol w="1018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1402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반품승인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회사임원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승인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ReturnConfirm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4792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52642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제품명으로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반품기간별로 검색기능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날짜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최신순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미승인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정렬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0E1198FE-EE90-4945-89C0-0FD01084B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0" y="1397477"/>
            <a:ext cx="7231929" cy="4623811"/>
          </a:xfrm>
          <a:prstGeom prst="rect">
            <a:avLst/>
          </a:prstGeom>
        </p:spPr>
      </p:pic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1074" y="2422638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55534" y="315234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7934" y="2422639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grpSp>
        <p:nvGrpSpPr>
          <p:cNvPr id="4" name="그룹 30">
            <a:extLst>
              <a:ext uri="{FF2B5EF4-FFF2-40B4-BE49-F238E27FC236}">
                <a16:creationId xmlns:a16="http://schemas.microsoft.com/office/drawing/2014/main" id="{FF0739D5-ECF8-4EB3-AECD-E6BAC1D27456}"/>
              </a:ext>
            </a:extLst>
          </p:cNvPr>
          <p:cNvGrpSpPr/>
          <p:nvPr/>
        </p:nvGrpSpPr>
        <p:grpSpPr>
          <a:xfrm>
            <a:off x="7384860" y="1287438"/>
            <a:ext cx="2522705" cy="3655953"/>
            <a:chOff x="10066361" y="1944946"/>
            <a:chExt cx="2522705" cy="3655953"/>
          </a:xfrm>
        </p:grpSpPr>
        <p:sp>
          <p:nvSpPr>
            <p:cNvPr id="32" name="Rectangle 6">
              <a:extLst>
                <a:ext uri="{FF2B5EF4-FFF2-40B4-BE49-F238E27FC236}">
                  <a16:creationId xmlns:a16="http://schemas.microsoft.com/office/drawing/2014/main" id="{B4F286D9-11E5-4159-943E-67A828F73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FE612C17-BA9E-45A0-8AD0-5CEA378C7D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4" name="Rectangle 6">
              <a:extLst>
                <a:ext uri="{FF2B5EF4-FFF2-40B4-BE49-F238E27FC236}">
                  <a16:creationId xmlns:a16="http://schemas.microsoft.com/office/drawing/2014/main" id="{DD0AA784-8E0F-4E57-B038-44EEF9B450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35" name="Line 10">
              <a:extLst>
                <a:ext uri="{FF2B5EF4-FFF2-40B4-BE49-F238E27FC236}">
                  <a16:creationId xmlns:a16="http://schemas.microsoft.com/office/drawing/2014/main" id="{A94E6BF1-32D5-429F-9099-43332229FD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982E4D3B-3DE1-490D-ACE7-409118CDD5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37" name="Rectangle 6">
              <a:extLst>
                <a:ext uri="{FF2B5EF4-FFF2-40B4-BE49-F238E27FC236}">
                  <a16:creationId xmlns:a16="http://schemas.microsoft.com/office/drawing/2014/main" id="{B4DD380B-4C0D-4A26-AF79-654EA8140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38" name="Line 9">
              <a:extLst>
                <a:ext uri="{FF2B5EF4-FFF2-40B4-BE49-F238E27FC236}">
                  <a16:creationId xmlns:a16="http://schemas.microsoft.com/office/drawing/2014/main" id="{9BFE7479-1F50-4CAB-B598-D94E51340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Rectangle 6">
              <a:extLst>
                <a:ext uri="{FF2B5EF4-FFF2-40B4-BE49-F238E27FC236}">
                  <a16:creationId xmlns:a16="http://schemas.microsoft.com/office/drawing/2014/main" id="{5D2E14E3-BE3C-4750-85D2-CEA7EE399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40" name="Line 9">
              <a:extLst>
                <a:ext uri="{FF2B5EF4-FFF2-40B4-BE49-F238E27FC236}">
                  <a16:creationId xmlns:a16="http://schemas.microsoft.com/office/drawing/2014/main" id="{3E964592-A230-468A-B8BD-32B6329E60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1" name="Line 13">
              <a:extLst>
                <a:ext uri="{FF2B5EF4-FFF2-40B4-BE49-F238E27FC236}">
                  <a16:creationId xmlns:a16="http://schemas.microsoft.com/office/drawing/2014/main" id="{90B9F856-8B1D-4E85-9124-2FCF880217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2" name="Line 13">
              <a:extLst>
                <a:ext uri="{FF2B5EF4-FFF2-40B4-BE49-F238E27FC236}">
                  <a16:creationId xmlns:a16="http://schemas.microsoft.com/office/drawing/2014/main" id="{4D98C4FD-DE7A-49EA-9387-738E10E911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3" name="Line 13">
              <a:extLst>
                <a:ext uri="{FF2B5EF4-FFF2-40B4-BE49-F238E27FC236}">
                  <a16:creationId xmlns:a16="http://schemas.microsoft.com/office/drawing/2014/main" id="{168EB1B3-AC88-4FBA-ADB8-487B80EB33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4" name="Line 13">
              <a:extLst>
                <a:ext uri="{FF2B5EF4-FFF2-40B4-BE49-F238E27FC236}">
                  <a16:creationId xmlns:a16="http://schemas.microsoft.com/office/drawing/2014/main" id="{B5F1D662-B66E-40FE-B264-C199D9EE8A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5" name="Line 8">
              <a:extLst>
                <a:ext uri="{FF2B5EF4-FFF2-40B4-BE49-F238E27FC236}">
                  <a16:creationId xmlns:a16="http://schemas.microsoft.com/office/drawing/2014/main" id="{6D44E61D-6ED2-4DAA-831B-1D304699B4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9E98B692-4ED9-4B35-8026-41333D6A7A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409792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6916941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productlist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6901A537-A2AB-4932-A15E-48AC36750C3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0" y="964951"/>
            <a:ext cx="7371800" cy="5470764"/>
          </a:xfrm>
          <a:prstGeom prst="rect">
            <a:avLst/>
          </a:prstGeom>
        </p:spPr>
      </p:pic>
      <p:sp>
        <p:nvSpPr>
          <p:cNvPr id="34" name="Oval 31">
            <a:extLst>
              <a:ext uri="{FF2B5EF4-FFF2-40B4-BE49-F238E27FC236}">
                <a16:creationId xmlns:a16="http://schemas.microsoft.com/office/drawing/2014/main" id="{A2FF9D29-6990-479F-9FC2-025F322AD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6742" y="148830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7552580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장비선택시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대분류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동적으로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select box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의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 구성됨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. </a:t>
                      </a:r>
                    </a:p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Ex)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</a:t>
                      </a:r>
                      <a:r>
                        <a:rPr kumimoji="1" lang="ko-KR" altLang="en-US" sz="1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선택시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제조사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option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으로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HP, IBM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대분류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소분류 두 가지 필터를 적용하여 검색하거나 검색조건을 주지 않고 검색할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한 개의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상세정보 팝업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고객이 주문수량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희망일자를 입력해야 주문이 가능함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주문수량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default : 1)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고객은 해당 상품을 장바구니에 담거나 바로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39" name="Oval 31">
            <a:extLst>
              <a:ext uri="{FF2B5EF4-FFF2-40B4-BE49-F238E27FC236}">
                <a16:creationId xmlns:a16="http://schemas.microsoft.com/office/drawing/2014/main" id="{9FF52B86-2F56-441E-AB3F-E302CE0D5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1756" y="148830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40" name="Oval 31">
            <a:extLst>
              <a:ext uri="{FF2B5EF4-FFF2-40B4-BE49-F238E27FC236}">
                <a16:creationId xmlns:a16="http://schemas.microsoft.com/office/drawing/2014/main" id="{247F8B14-B3E5-4D9A-BFEF-7BB927E5F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5362" y="2492896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57" name="Oval 31">
            <a:extLst>
              <a:ext uri="{FF2B5EF4-FFF2-40B4-BE49-F238E27FC236}">
                <a16:creationId xmlns:a16="http://schemas.microsoft.com/office/drawing/2014/main" id="{A48046F6-E871-43C8-8E23-958BEFBC6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969" y="378904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58" name="Oval 31">
            <a:extLst>
              <a:ext uri="{FF2B5EF4-FFF2-40B4-BE49-F238E27FC236}">
                <a16:creationId xmlns:a16="http://schemas.microsoft.com/office/drawing/2014/main" id="{39358E5F-076C-40A3-9A1A-1A1D423A50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578" y="6084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904377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장바구니목록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기엄고객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shoppingcart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371554"/>
              </p:ext>
            </p:extLst>
          </p:nvPr>
        </p:nvGraphicFramePr>
        <p:xfrm>
          <a:off x="7366690" y="965110"/>
          <a:ext cx="2540898" cy="449407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장바구니에 담긴 항목 중 주문을 원하는 항목만 선택가능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주문하기 전 수량을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조절시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총 금액과 합계금액이 동적으로 변경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납품 희망날짜 클릭 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datepicker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이용하여 날짜를 수정할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해당 항목은 삭제 아이콘 클릭 시 목록에서 삭제할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입금하기 버튼을 누르면 프롬프트창이 뜨며 확인과 함께 주문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완료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pic>
        <p:nvPicPr>
          <p:cNvPr id="9" name="그림 8" descr="스크린샷이(가) 표시된 사진&#10;&#10;자동 생성된 설명">
            <a:extLst>
              <a:ext uri="{FF2B5EF4-FFF2-40B4-BE49-F238E27FC236}">
                <a16:creationId xmlns:a16="http://schemas.microsoft.com/office/drawing/2014/main" id="{0D5F58D5-AC64-47B9-99D0-872A6AA07A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94" y="1089025"/>
            <a:ext cx="7241302" cy="4883782"/>
          </a:xfrm>
          <a:prstGeom prst="rect">
            <a:avLst/>
          </a:prstGeom>
        </p:spPr>
      </p:pic>
      <p:sp>
        <p:nvSpPr>
          <p:cNvPr id="16" name="Oval 31">
            <a:extLst>
              <a:ext uri="{FF2B5EF4-FFF2-40B4-BE49-F238E27FC236}">
                <a16:creationId xmlns:a16="http://schemas.microsoft.com/office/drawing/2014/main" id="{C00A3D0C-23C3-4A0A-BCDE-D6ABFA798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378" y="184482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17" name="Oval 31">
            <a:extLst>
              <a:ext uri="{FF2B5EF4-FFF2-40B4-BE49-F238E27FC236}">
                <a16:creationId xmlns:a16="http://schemas.microsoft.com/office/drawing/2014/main" id="{7E5F26EF-B464-496A-82F1-81AFFDD12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5682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97BBF926-B6A2-480F-87FB-A3275EF08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4325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19" name="Oval 31">
            <a:extLst>
              <a:ext uri="{FF2B5EF4-FFF2-40B4-BE49-F238E27FC236}">
                <a16:creationId xmlns:a16="http://schemas.microsoft.com/office/drawing/2014/main" id="{4E0385B0-E860-4D44-B029-27F59B653C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383" y="2204864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0" name="Oval 31">
            <a:extLst>
              <a:ext uri="{FF2B5EF4-FFF2-40B4-BE49-F238E27FC236}">
                <a16:creationId xmlns:a16="http://schemas.microsoft.com/office/drawing/2014/main" id="{3C4485FF-1A97-4BB1-BBA1-5F639BA60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355" y="534660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0889667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 descr="스크린샷이(가) 표시된 사진&#10;&#10;자동 생성된 설명">
            <a:extLst>
              <a:ext uri="{FF2B5EF4-FFF2-40B4-BE49-F238E27FC236}">
                <a16:creationId xmlns:a16="http://schemas.microsoft.com/office/drawing/2014/main" id="{5C207725-A5EA-400B-A902-B8D6A2300F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65110"/>
            <a:ext cx="7366690" cy="5651590"/>
          </a:xfrm>
          <a:prstGeom prst="rect">
            <a:avLst/>
          </a:prstGeom>
        </p:spPr>
      </p:pic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1366396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주문이력조회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안주현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반품처리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기업고객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refundrequest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graphicFrame>
        <p:nvGraphicFramePr>
          <p:cNvPr id="10" name="표 10">
            <a:extLst>
              <a:ext uri="{FF2B5EF4-FFF2-40B4-BE49-F238E27FC236}">
                <a16:creationId xmlns:a16="http://schemas.microsoft.com/office/drawing/2014/main" id="{3399238D-E344-4CFE-94D0-325BE9EC1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36854"/>
              </p:ext>
            </p:extLst>
          </p:nvPr>
        </p:nvGraphicFramePr>
        <p:xfrm>
          <a:off x="7366690" y="965110"/>
          <a:ext cx="2540898" cy="5102174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4595">
                  <a:extLst>
                    <a:ext uri="{9D8B030D-6E8A-4147-A177-3AD203B41FA5}">
                      <a16:colId xmlns:a16="http://schemas.microsoft.com/office/drawing/2014/main" val="2493314936"/>
                    </a:ext>
                  </a:extLst>
                </a:gridCol>
                <a:gridCol w="2306303">
                  <a:extLst>
                    <a:ext uri="{9D8B030D-6E8A-4147-A177-3AD203B41FA5}">
                      <a16:colId xmlns:a16="http://schemas.microsoft.com/office/drawing/2014/main" val="142557546"/>
                    </a:ext>
                  </a:extLst>
                </a:gridCol>
              </a:tblGrid>
              <a:tr h="303650">
                <a:tc gridSpan="2">
                  <a:txBody>
                    <a:bodyPr/>
                    <a:lstStyle/>
                    <a:p>
                      <a:pPr latinLnBrk="1"/>
                      <a:r>
                        <a:rPr kumimoji="1" lang="en-US" altLang="ko-KR" sz="9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Description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7F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1362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1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모델명 또는 구매일자로 검색가능</a:t>
                      </a:r>
                      <a:endParaRPr kumimoji="1" lang="en-US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309898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2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row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하나의 주문건에 대한 </a:t>
                      </a: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subgrid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상세정보가 나타남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en-US" altLang="ko-KR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Cf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일련번호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대한 시퀀스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주문번호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상세 주문항목에 대한 시퀀스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1768132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3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주문상태 표시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버튼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반품이 가능한 상태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배송완료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반품완료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indent="-171450"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Char char="-"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일부반품 완료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수량 중 일부만 반품 된 경우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760727"/>
                  </a:ext>
                </a:extLst>
              </a:tr>
              <a:tr h="560012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4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하나의 주문건에 대해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반품요청할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제품과 수량을 선택할 수 있음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3681808"/>
                  </a:ext>
                </a:extLst>
              </a:tr>
              <a:tr h="57606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5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49263" rtl="0" eaLnBrk="1" fontAlgn="base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반품요청 버튼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클릭시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입금받을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계좌를 입력할 수 있는 팝업창이 뜸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176037"/>
                  </a:ext>
                </a:extLst>
              </a:tr>
              <a:tr h="838084"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altLang="ko-KR" sz="900" kern="1200" dirty="0">
                          <a:solidFill>
                            <a:srgbClr val="000000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  <a:cs typeface="+mn-cs"/>
                        </a:rPr>
                        <a:t>6</a:t>
                      </a:r>
                      <a:endParaRPr lang="ko-KR" altLang="en-US" sz="900" kern="1200" dirty="0">
                        <a:solidFill>
                          <a:srgbClr val="000000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49263" rtl="0" eaLnBrk="1" fontAlgn="base" latinLnBrk="1" hangingPunct="1"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Pct val="100000"/>
                        <a:buFontTx/>
                        <a:buNone/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프롬프트창의 반품 확인 버튼을 누르면 반품요청 완료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2637297"/>
                  </a:ext>
                </a:extLst>
              </a:tr>
            </a:tbl>
          </a:graphicData>
        </a:graphic>
      </p:graphicFrame>
      <p:sp>
        <p:nvSpPr>
          <p:cNvPr id="15" name="Oval 31">
            <a:extLst>
              <a:ext uri="{FF2B5EF4-FFF2-40B4-BE49-F238E27FC236}">
                <a16:creationId xmlns:a16="http://schemas.microsoft.com/office/drawing/2014/main" id="{F39C395F-497E-4DBA-90BE-48B9DA04E3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1386" y="1770463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2528AA6C-FFFE-44F3-ADBC-BD54C2D1D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8355" y="246217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2" name="Oval 31">
            <a:extLst>
              <a:ext uri="{FF2B5EF4-FFF2-40B4-BE49-F238E27FC236}">
                <a16:creationId xmlns:a16="http://schemas.microsoft.com/office/drawing/2014/main" id="{8090A55A-B80B-496D-8E2B-2178EA83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946" y="2349608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23" name="Oval 31">
            <a:extLst>
              <a:ext uri="{FF2B5EF4-FFF2-40B4-BE49-F238E27FC236}">
                <a16:creationId xmlns:a16="http://schemas.microsoft.com/office/drawing/2014/main" id="{2DC32EC6-C1DA-40FF-A06B-663EE8D5F8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9551" y="3429937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2D6B4019-87B4-4467-B159-5C568F4EC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2737" y="6205769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6</a:t>
            </a:r>
          </a:p>
        </p:txBody>
      </p:sp>
      <p:sp>
        <p:nvSpPr>
          <p:cNvPr id="18" name="Oval 31">
            <a:extLst>
              <a:ext uri="{FF2B5EF4-FFF2-40B4-BE49-F238E27FC236}">
                <a16:creationId xmlns:a16="http://schemas.microsoft.com/office/drawing/2014/main" id="{2A75358A-E290-4E94-83B9-A7EF128F09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44976" y="4295930"/>
            <a:ext cx="246061" cy="225141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b="1" dirty="0">
                <a:latin typeface="Lucida Sans" panose="020B0602030504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563834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1">
            <a:extLst>
              <a:ext uri="{FF2B5EF4-FFF2-40B4-BE49-F238E27FC236}">
                <a16:creationId xmlns:a16="http://schemas.microsoft.com/office/drawing/2014/main" id="{E1A7DADC-E7D4-48FF-B1DA-2A8A16D479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" y="1588"/>
            <a:ext cx="3457575" cy="346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>
              <a:buClrTx/>
              <a:buFontTx/>
              <a:buNone/>
            </a:pPr>
            <a:r>
              <a:rPr lang="en-US" altLang="ko-KR" sz="1600" dirty="0">
                <a:solidFill>
                  <a:srgbClr val="000000"/>
                </a:solidFill>
                <a:latin typeface="HY견고딕" panose="02030600000101010101" pitchFamily="18" charset="-127"/>
              </a:rPr>
              <a:t>SCM</a:t>
            </a:r>
          </a:p>
        </p:txBody>
      </p:sp>
      <p:grpSp>
        <p:nvGrpSpPr>
          <p:cNvPr id="3" name="그룹 21"/>
          <p:cNvGrpSpPr/>
          <p:nvPr/>
        </p:nvGrpSpPr>
        <p:grpSpPr>
          <a:xfrm>
            <a:off x="7329582" y="1310288"/>
            <a:ext cx="2513136" cy="648072"/>
            <a:chOff x="2721546" y="4077072"/>
            <a:chExt cx="2513136" cy="648072"/>
          </a:xfrm>
        </p:grpSpPr>
        <p:sp>
          <p:nvSpPr>
            <p:cNvPr id="7175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7180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1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2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183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4" name="그룹 22"/>
          <p:cNvGrpSpPr/>
          <p:nvPr/>
        </p:nvGrpSpPr>
        <p:grpSpPr>
          <a:xfrm>
            <a:off x="7330058" y="1954932"/>
            <a:ext cx="2513136" cy="648072"/>
            <a:chOff x="2721546" y="4077072"/>
            <a:chExt cx="2513136" cy="648072"/>
          </a:xfrm>
        </p:grpSpPr>
        <p:sp>
          <p:nvSpPr>
            <p:cNvPr id="2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2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2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5" name="그룹 34"/>
          <p:cNvGrpSpPr/>
          <p:nvPr/>
        </p:nvGrpSpPr>
        <p:grpSpPr>
          <a:xfrm>
            <a:off x="7330058" y="2606432"/>
            <a:ext cx="2513136" cy="648072"/>
            <a:chOff x="2721546" y="4077072"/>
            <a:chExt cx="2513136" cy="648072"/>
          </a:xfrm>
        </p:grpSpPr>
        <p:sp>
          <p:nvSpPr>
            <p:cNvPr id="3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3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3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6" name="그룹 40"/>
          <p:cNvGrpSpPr/>
          <p:nvPr/>
        </p:nvGrpSpPr>
        <p:grpSpPr>
          <a:xfrm>
            <a:off x="7330058" y="3254504"/>
            <a:ext cx="2513136" cy="648072"/>
            <a:chOff x="2721546" y="4077072"/>
            <a:chExt cx="2513136" cy="648072"/>
          </a:xfrm>
        </p:grpSpPr>
        <p:sp>
          <p:nvSpPr>
            <p:cNvPr id="42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4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5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7" name="그룹 46"/>
          <p:cNvGrpSpPr/>
          <p:nvPr/>
        </p:nvGrpSpPr>
        <p:grpSpPr>
          <a:xfrm>
            <a:off x="7330058" y="3902576"/>
            <a:ext cx="2513136" cy="648072"/>
            <a:chOff x="2721546" y="4077072"/>
            <a:chExt cx="2513136" cy="648072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9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0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1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2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8" name="그룹 52"/>
          <p:cNvGrpSpPr/>
          <p:nvPr/>
        </p:nvGrpSpPr>
        <p:grpSpPr>
          <a:xfrm>
            <a:off x="7330058" y="4550648"/>
            <a:ext cx="2513136" cy="648072"/>
            <a:chOff x="2721546" y="4077072"/>
            <a:chExt cx="2513136" cy="648072"/>
          </a:xfrm>
        </p:grpSpPr>
        <p:sp>
          <p:nvSpPr>
            <p:cNvPr id="54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55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6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7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58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9" name="그룹 58"/>
          <p:cNvGrpSpPr/>
          <p:nvPr/>
        </p:nvGrpSpPr>
        <p:grpSpPr>
          <a:xfrm>
            <a:off x="7330058" y="5198720"/>
            <a:ext cx="2513136" cy="648072"/>
            <a:chOff x="2721546" y="4077072"/>
            <a:chExt cx="2513136" cy="648072"/>
          </a:xfrm>
        </p:grpSpPr>
        <p:sp>
          <p:nvSpPr>
            <p:cNvPr id="60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7</a:t>
              </a:r>
            </a:p>
          </p:txBody>
        </p:sp>
        <p:sp>
          <p:nvSpPr>
            <p:cNvPr id="61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2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3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4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grpSp>
        <p:nvGrpSpPr>
          <p:cNvPr id="10" name="그룹 64"/>
          <p:cNvGrpSpPr/>
          <p:nvPr/>
        </p:nvGrpSpPr>
        <p:grpSpPr>
          <a:xfrm>
            <a:off x="7330058" y="5846792"/>
            <a:ext cx="2513136" cy="648072"/>
            <a:chOff x="2721546" y="4077072"/>
            <a:chExt cx="2513136" cy="648072"/>
          </a:xfrm>
        </p:grpSpPr>
        <p:sp>
          <p:nvSpPr>
            <p:cNvPr id="66" name="Rectangle 4">
              <a:extLst>
                <a:ext uri="{FF2B5EF4-FFF2-40B4-BE49-F238E27FC236}">
                  <a16:creationId xmlns:a16="http://schemas.microsoft.com/office/drawing/2014/main" id="{C91354CC-E634-480F-873A-755B63CAC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21546" y="4077072"/>
              <a:ext cx="244475" cy="648072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8</a:t>
              </a:r>
            </a:p>
          </p:txBody>
        </p:sp>
        <p:sp>
          <p:nvSpPr>
            <p:cNvPr id="67" name="Line 9">
              <a:extLst>
                <a:ext uri="{FF2B5EF4-FFF2-40B4-BE49-F238E27FC236}">
                  <a16:creationId xmlns:a16="http://schemas.microsoft.com/office/drawing/2014/main" id="{C34BB884-853D-419F-821F-2228CDAE34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725144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8" name="Line 10">
              <a:extLst>
                <a:ext uri="{FF2B5EF4-FFF2-40B4-BE49-F238E27FC236}">
                  <a16:creationId xmlns:a16="http://schemas.microsoft.com/office/drawing/2014/main" id="{ACB96A5B-6578-4B9D-9BC6-3E8F474FF9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0" cy="648072"/>
            </a:xfrm>
            <a:prstGeom prst="line">
              <a:avLst/>
            </a:prstGeom>
            <a:noFill/>
            <a:ln w="127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69" name="Line 11">
              <a:extLst>
                <a:ext uri="{FF2B5EF4-FFF2-40B4-BE49-F238E27FC236}">
                  <a16:creationId xmlns:a16="http://schemas.microsoft.com/office/drawing/2014/main" id="{9336B4A9-2394-451D-BC85-64A28CD580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34682" y="4077072"/>
              <a:ext cx="0" cy="648072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70" name="Line 12">
              <a:extLst>
                <a:ext uri="{FF2B5EF4-FFF2-40B4-BE49-F238E27FC236}">
                  <a16:creationId xmlns:a16="http://schemas.microsoft.com/office/drawing/2014/main" id="{77ECD003-A56D-4318-8382-CA81444762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21546" y="407707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74" name="직사각형 73"/>
          <p:cNvSpPr/>
          <p:nvPr/>
        </p:nvSpPr>
        <p:spPr bwMode="auto">
          <a:xfrm>
            <a:off x="7618090" y="1412776"/>
            <a:ext cx="2232248" cy="534535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등록한 </a:t>
            </a:r>
            <a:r>
              <a:rPr lang="en-US" altLang="ko-KR" sz="800" dirty="0">
                <a:solidFill>
                  <a:schemeClr val="tx1"/>
                </a:solidFill>
              </a:rPr>
              <a:t>1:1 </a:t>
            </a:r>
            <a:r>
              <a:rPr lang="ko-KR" altLang="en-US" sz="800" dirty="0">
                <a:solidFill>
                  <a:schemeClr val="tx1"/>
                </a:solidFill>
              </a:rPr>
              <a:t>문의 내역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제목을 클릭했을 때 상세 내용 및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ko-KR" altLang="en-US" sz="800" dirty="0">
                <a:solidFill>
                  <a:schemeClr val="tx1"/>
                </a:solidFill>
              </a:rPr>
              <a:t>답변을 볼 수 있음 </a:t>
            </a: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 err="1">
                <a:solidFill>
                  <a:schemeClr val="tx1"/>
                </a:solidFill>
              </a:rPr>
              <a:t>페이징</a:t>
            </a:r>
            <a:r>
              <a:rPr lang="ko-KR" altLang="en-US" sz="800">
                <a:solidFill>
                  <a:schemeClr val="tx1"/>
                </a:solidFill>
              </a:rPr>
              <a:t> 처리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로그인을 해야만 접근할 수 있음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아이디 별로 문의 내역 출력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</a:p>
          <a:p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 bwMode="auto">
          <a:xfrm>
            <a:off x="7618090" y="2060847"/>
            <a:ext cx="2232248" cy="545584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● 상세 내용 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등록한 내용의 상세 보기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내용의 수정 및 삭제도 가능</a:t>
            </a:r>
            <a:r>
              <a:rPr lang="en-US" altLang="ko-KR" sz="800" dirty="0">
                <a:solidFill>
                  <a:schemeClr val="tx1"/>
                </a:solidFill>
              </a:rPr>
              <a:t/>
            </a:r>
            <a:br>
              <a:rPr lang="en-US" altLang="ko-KR" sz="800" dirty="0">
                <a:solidFill>
                  <a:schemeClr val="tx1"/>
                </a:solidFill>
              </a:rPr>
            </a:br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답변이 달리기 전 까지만</a:t>
            </a:r>
            <a:r>
              <a:rPr lang="en-US" altLang="ko-KR" sz="800" dirty="0">
                <a:solidFill>
                  <a:schemeClr val="tx1"/>
                </a:solidFill>
              </a:rPr>
              <a:t>)</a:t>
            </a:r>
            <a:r>
              <a:rPr lang="ko-KR" altLang="en-US" sz="800" dirty="0">
                <a:solidFill>
                  <a:schemeClr val="tx1"/>
                </a:solidFill>
              </a:rPr>
              <a:t> </a:t>
            </a:r>
            <a:endParaRPr lang="en-US" altLang="ko-KR" sz="800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sz="800" dirty="0">
                <a:solidFill>
                  <a:schemeClr val="tx1"/>
                </a:solidFill>
              </a:rPr>
              <a:t>수정 및 삭제 시 </a:t>
            </a:r>
            <a:r>
              <a:rPr lang="en-US" altLang="ko-KR" sz="800" dirty="0">
                <a:solidFill>
                  <a:schemeClr val="tx1"/>
                </a:solidFill>
              </a:rPr>
              <a:t>alert </a:t>
            </a:r>
            <a:r>
              <a:rPr lang="ko-KR" altLang="en-US" sz="800" dirty="0">
                <a:solidFill>
                  <a:schemeClr val="tx1"/>
                </a:solidFill>
              </a:rPr>
              <a:t>팝업</a:t>
            </a:r>
            <a:endParaRPr lang="en-US" altLang="ko-KR" sz="800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9" name="직사각형 78"/>
          <p:cNvSpPr/>
          <p:nvPr/>
        </p:nvSpPr>
        <p:spPr bwMode="auto">
          <a:xfrm>
            <a:off x="7599422" y="260643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r>
              <a:rPr lang="ko-KR" altLang="en-US" dirty="0">
                <a:solidFill>
                  <a:schemeClr val="tx1"/>
                </a:solidFill>
              </a:rPr>
              <a:t>● 문의 등록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제목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카테고리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내용을 입력</a:t>
            </a:r>
            <a:endParaRPr lang="en-US" altLang="ko-KR" dirty="0">
              <a:solidFill>
                <a:schemeClr val="tx1"/>
              </a:solidFill>
            </a:endParaRPr>
          </a:p>
          <a:p>
            <a:pPr marL="171450" indent="-171450">
              <a:buFontTx/>
              <a:buChar char="-"/>
            </a:pPr>
            <a:r>
              <a:rPr lang="ko-KR" altLang="en-US" dirty="0">
                <a:solidFill>
                  <a:schemeClr val="tx1"/>
                </a:solidFill>
              </a:rPr>
              <a:t>등록 버튼 클릭 시 </a:t>
            </a:r>
            <a:r>
              <a:rPr lang="en-US" altLang="ko-KR" dirty="0">
                <a:solidFill>
                  <a:schemeClr val="tx1"/>
                </a:solidFill>
              </a:rPr>
              <a:t>alert </a:t>
            </a:r>
            <a:r>
              <a:rPr lang="ko-KR" altLang="en-US" dirty="0">
                <a:solidFill>
                  <a:schemeClr val="tx1"/>
                </a:solidFill>
              </a:rPr>
              <a:t>팝업</a:t>
            </a:r>
            <a:endParaRPr lang="en-US" altLang="ko-KR" dirty="0">
              <a:solidFill>
                <a:schemeClr val="tx1"/>
              </a:solidFill>
            </a:endParaRPr>
          </a:p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 bwMode="auto">
          <a:xfrm>
            <a:off x="7622000" y="3243456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4" name="직사각형 83"/>
          <p:cNvSpPr/>
          <p:nvPr/>
        </p:nvSpPr>
        <p:spPr bwMode="auto">
          <a:xfrm>
            <a:off x="7614098" y="3880480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 bwMode="auto">
          <a:xfrm>
            <a:off x="7606196" y="4547984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6" name="직사각형 85"/>
          <p:cNvSpPr/>
          <p:nvPr/>
        </p:nvSpPr>
        <p:spPr bwMode="auto">
          <a:xfrm>
            <a:off x="7598294" y="5192628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 bwMode="auto">
          <a:xfrm>
            <a:off x="7605632" y="5837272"/>
            <a:ext cx="2232248" cy="648072"/>
          </a:xfrm>
          <a:prstGeom prst="rect">
            <a:avLst/>
          </a:prstGeom>
          <a:noFill/>
          <a:ln w="12600" cap="sq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>
        <p:nvPicPr>
          <p:cNvPr id="71" name="그림 70">
            <a:extLst>
              <a:ext uri="{FF2B5EF4-FFF2-40B4-BE49-F238E27FC236}">
                <a16:creationId xmlns:a16="http://schemas.microsoft.com/office/drawing/2014/main" id="{9BF02B10-A2FB-4241-BB75-7B6A44ECDC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59" y="1098860"/>
            <a:ext cx="7202986" cy="5282468"/>
          </a:xfrm>
          <a:prstGeom prst="rect">
            <a:avLst/>
          </a:prstGeom>
        </p:spPr>
      </p:pic>
      <p:sp>
        <p:nvSpPr>
          <p:cNvPr id="72" name="순서도: 연결자 71">
            <a:extLst>
              <a:ext uri="{FF2B5EF4-FFF2-40B4-BE49-F238E27FC236}">
                <a16:creationId xmlns:a16="http://schemas.microsoft.com/office/drawing/2014/main" id="{13473928-6B49-4FA2-B7EB-AC8D3D79E2AA}"/>
              </a:ext>
            </a:extLst>
          </p:cNvPr>
          <p:cNvSpPr/>
          <p:nvPr/>
        </p:nvSpPr>
        <p:spPr bwMode="auto">
          <a:xfrm>
            <a:off x="4161706" y="1556792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3" name="순서도: 연결자 72">
            <a:extLst>
              <a:ext uri="{FF2B5EF4-FFF2-40B4-BE49-F238E27FC236}">
                <a16:creationId xmlns:a16="http://schemas.microsoft.com/office/drawing/2014/main" id="{10A2ADBC-5322-48B3-B9EA-C8A0211D9525}"/>
              </a:ext>
            </a:extLst>
          </p:cNvPr>
          <p:cNvSpPr/>
          <p:nvPr/>
        </p:nvSpPr>
        <p:spPr bwMode="auto">
          <a:xfrm>
            <a:off x="3707365" y="2876427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kumimoji="0" lang="en-US" altLang="ko-KR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6" name="순서도: 연결자 75">
            <a:extLst>
              <a:ext uri="{FF2B5EF4-FFF2-40B4-BE49-F238E27FC236}">
                <a16:creationId xmlns:a16="http://schemas.microsoft.com/office/drawing/2014/main" id="{73FBF066-C276-465D-8181-1E25019A1A3C}"/>
              </a:ext>
            </a:extLst>
          </p:cNvPr>
          <p:cNvSpPr/>
          <p:nvPr/>
        </p:nvSpPr>
        <p:spPr bwMode="auto">
          <a:xfrm>
            <a:off x="2217490" y="5651128"/>
            <a:ext cx="216024" cy="216024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449263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/>
            </a:pPr>
            <a:r>
              <a:rPr lang="en-US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0" lang="ko-KR" altLang="en-US" sz="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E7AD9587-14E9-443A-A217-B9B1C382FBA6}"/>
              </a:ext>
            </a:extLst>
          </p:cNvPr>
          <p:cNvSpPr txBox="1"/>
          <p:nvPr/>
        </p:nvSpPr>
        <p:spPr>
          <a:xfrm>
            <a:off x="3225602" y="620688"/>
            <a:ext cx="152477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[</a:t>
            </a:r>
            <a:r>
              <a:rPr lang="ko-KR" altLang="en-US" dirty="0">
                <a:solidFill>
                  <a:schemeClr val="tx1"/>
                </a:solidFill>
              </a:rPr>
              <a:t>기업고객</a:t>
            </a:r>
            <a:r>
              <a:rPr lang="en-US" altLang="ko-KR" dirty="0">
                <a:solidFill>
                  <a:schemeClr val="tx1"/>
                </a:solidFill>
              </a:rPr>
              <a:t>] 1:1 </a:t>
            </a:r>
            <a:r>
              <a:rPr lang="ko-KR" altLang="en-US" dirty="0">
                <a:solidFill>
                  <a:schemeClr val="tx1"/>
                </a:solidFill>
              </a:rPr>
              <a:t>문의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A43D79D-CEFD-4896-BB02-2A0D193D3FFE}"/>
              </a:ext>
            </a:extLst>
          </p:cNvPr>
          <p:cNvSpPr txBox="1"/>
          <p:nvPr/>
        </p:nvSpPr>
        <p:spPr>
          <a:xfrm>
            <a:off x="3225602" y="837292"/>
            <a:ext cx="50526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inquiry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539852-B6EB-4402-874D-5FF7B3966C2E}"/>
              </a:ext>
            </a:extLst>
          </p:cNvPr>
          <p:cNvSpPr txBox="1"/>
          <p:nvPr/>
        </p:nvSpPr>
        <p:spPr>
          <a:xfrm>
            <a:off x="4262281" y="2035544"/>
            <a:ext cx="504056" cy="216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</a:rPr>
              <a:t>1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0301050"/>
              </p:ext>
            </p:extLst>
          </p:nvPr>
        </p:nvGraphicFramePr>
        <p:xfrm>
          <a:off x="-1" y="422275"/>
          <a:ext cx="9907588" cy="6434137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569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7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login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92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34453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회원가입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popup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찾기 이메일 인증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인증완료 후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alert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창으로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아이디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비밀번호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63C0EDD9-EF48-4009-8123-676F7620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317547"/>
            <a:ext cx="2254251" cy="60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eaLnBrk="1" hangingPunct="1">
              <a:spcBef>
                <a:spcPts val="200"/>
              </a:spcBef>
              <a:buFont typeface="맑은 고딕" panose="020B0503020000020004" pitchFamily="34" charset="-127"/>
              <a:buChar char="-"/>
            </a:pPr>
            <a:endParaRPr lang="ko-KR" altLang="ko-KR" dirty="0">
              <a:solidFill>
                <a:srgbClr val="000000"/>
              </a:solidFill>
            </a:endParaRP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43C2A934-AB1A-4C2D-88F0-08EE3975C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2423" y="1920797"/>
            <a:ext cx="225425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808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ko-KR" alt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81642534-596C-493C-B1F6-63875E9676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205" y="1203126"/>
            <a:ext cx="6534855" cy="4641779"/>
          </a:xfrm>
          <a:prstGeom prst="rect">
            <a:avLst/>
          </a:prstGeom>
        </p:spPr>
      </p:pic>
      <p:grpSp>
        <p:nvGrpSpPr>
          <p:cNvPr id="4" name="그룹 27">
            <a:extLst>
              <a:ext uri="{FF2B5EF4-FFF2-40B4-BE49-F238E27FC236}">
                <a16:creationId xmlns:a16="http://schemas.microsoft.com/office/drawing/2014/main" id="{5D63E202-7919-4435-8C3A-89286461AD1B}"/>
              </a:ext>
            </a:extLst>
          </p:cNvPr>
          <p:cNvGrpSpPr/>
          <p:nvPr/>
        </p:nvGrpSpPr>
        <p:grpSpPr>
          <a:xfrm>
            <a:off x="7372592" y="1216445"/>
            <a:ext cx="2522705" cy="3655953"/>
            <a:chOff x="10066361" y="1944946"/>
            <a:chExt cx="2522705" cy="3655953"/>
          </a:xfrm>
        </p:grpSpPr>
        <p:sp>
          <p:nvSpPr>
            <p:cNvPr id="25" name="Rectangle 6">
              <a:extLst>
                <a:ext uri="{FF2B5EF4-FFF2-40B4-BE49-F238E27FC236}">
                  <a16:creationId xmlns:a16="http://schemas.microsoft.com/office/drawing/2014/main" id="{0659F3CC-12EC-433B-811C-FE1E8C684B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33" name="Rectangle 6">
              <a:extLst>
                <a:ext uri="{FF2B5EF4-FFF2-40B4-BE49-F238E27FC236}">
                  <a16:creationId xmlns:a16="http://schemas.microsoft.com/office/drawing/2014/main" id="{2C5B58B9-4AB9-4E55-A2C1-2E303F48C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36" name="Rectangle 6">
              <a:extLst>
                <a:ext uri="{FF2B5EF4-FFF2-40B4-BE49-F238E27FC236}">
                  <a16:creationId xmlns:a16="http://schemas.microsoft.com/office/drawing/2014/main" id="{18112543-987F-442F-8D73-B3A0BB492E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14" name="Line 10">
              <a:extLst>
                <a:ext uri="{FF2B5EF4-FFF2-40B4-BE49-F238E27FC236}">
                  <a16:creationId xmlns:a16="http://schemas.microsoft.com/office/drawing/2014/main" id="{0BB0134A-9710-4E81-AA3C-CC9E79CE06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8" name="Rectangle 4">
              <a:extLst>
                <a:ext uri="{FF2B5EF4-FFF2-40B4-BE49-F238E27FC236}">
                  <a16:creationId xmlns:a16="http://schemas.microsoft.com/office/drawing/2014/main" id="{F840BF09-CEC8-4E5F-93BF-99E55974BB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10" name="Rectangle 6">
              <a:extLst>
                <a:ext uri="{FF2B5EF4-FFF2-40B4-BE49-F238E27FC236}">
                  <a16:creationId xmlns:a16="http://schemas.microsoft.com/office/drawing/2014/main" id="{753AABE7-3167-4A98-B7A9-F7F0A7D268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5C1F69E7-0A47-4183-AB2C-8CFC8656E2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6" name="Rectangle 6">
              <a:extLst>
                <a:ext uri="{FF2B5EF4-FFF2-40B4-BE49-F238E27FC236}">
                  <a16:creationId xmlns:a16="http://schemas.microsoft.com/office/drawing/2014/main" id="{7688C94B-9D54-4AA0-B0CE-D8D2BC1BB5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27" name="Line 9">
              <a:extLst>
                <a:ext uri="{FF2B5EF4-FFF2-40B4-BE49-F238E27FC236}">
                  <a16:creationId xmlns:a16="http://schemas.microsoft.com/office/drawing/2014/main" id="{85AC3139-94CD-4ED4-92D3-E4C9D879DA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29" name="Line 13">
              <a:extLst>
                <a:ext uri="{FF2B5EF4-FFF2-40B4-BE49-F238E27FC236}">
                  <a16:creationId xmlns:a16="http://schemas.microsoft.com/office/drawing/2014/main" id="{478CC24C-BD14-42A0-A18F-25F54C8C7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5" name="Line 13">
              <a:extLst>
                <a:ext uri="{FF2B5EF4-FFF2-40B4-BE49-F238E27FC236}">
                  <a16:creationId xmlns:a16="http://schemas.microsoft.com/office/drawing/2014/main" id="{3001EB2D-4B9C-4595-B006-42A735ADBE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9" name="Line 13">
              <a:extLst>
                <a:ext uri="{FF2B5EF4-FFF2-40B4-BE49-F238E27FC236}">
                  <a16:creationId xmlns:a16="http://schemas.microsoft.com/office/drawing/2014/main" id="{625F108E-516D-4647-9EF5-A07F75501C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31" name="Line 13">
              <a:extLst>
                <a:ext uri="{FF2B5EF4-FFF2-40B4-BE49-F238E27FC236}">
                  <a16:creationId xmlns:a16="http://schemas.microsoft.com/office/drawing/2014/main" id="{AA552DE3-02DC-49E5-81E9-3DC96AEC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2" name="Line 8">
              <a:extLst>
                <a:ext uri="{FF2B5EF4-FFF2-40B4-BE49-F238E27FC236}">
                  <a16:creationId xmlns:a16="http://schemas.microsoft.com/office/drawing/2014/main" id="{8F655507-7120-4CEA-B0C7-0E5DDAB9F9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16" name="Line 12">
              <a:extLst>
                <a:ext uri="{FF2B5EF4-FFF2-40B4-BE49-F238E27FC236}">
                  <a16:creationId xmlns:a16="http://schemas.microsoft.com/office/drawing/2014/main" id="{3BCE8CBC-3258-43A3-9CD1-7A1426C76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  <p:sp>
        <p:nvSpPr>
          <p:cNvPr id="40" name="Oval 31">
            <a:extLst>
              <a:ext uri="{FF2B5EF4-FFF2-40B4-BE49-F238E27FC236}">
                <a16:creationId xmlns:a16="http://schemas.microsoft.com/office/drawing/2014/main" id="{B1F1D037-25DC-4A92-BEE0-BE59F179E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8505" y="3219054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30" name="Oval 31">
            <a:extLst>
              <a:ext uri="{FF2B5EF4-FFF2-40B4-BE49-F238E27FC236}">
                <a16:creationId xmlns:a16="http://schemas.microsoft.com/office/drawing/2014/main" id="{C771AD53-EECD-460F-B467-95AFA4CB8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72598" y="1620518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D044C78-4D0E-4234-BED1-89C5D6E56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5724" y="2498647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CFED4B23-3B1F-47CB-AE19-54DD94614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5882" y="1973401"/>
            <a:ext cx="309026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8558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8" descr="top">
            <a:extLst>
              <a:ext uri="{FF2B5EF4-FFF2-40B4-BE49-F238E27FC236}">
                <a16:creationId xmlns:a16="http://schemas.microsoft.com/office/drawing/2014/main" id="{0E9D91A8-6936-4FD6-BFDF-F3532372E4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907588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7">
            <a:extLst>
              <a:ext uri="{FF2B5EF4-FFF2-40B4-BE49-F238E27FC236}">
                <a16:creationId xmlns:a16="http://schemas.microsoft.com/office/drawing/2014/main" id="{8DD9676B-92BF-455F-9B5B-DB91595E0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3190" y="76200"/>
            <a:ext cx="3353337" cy="304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342900" indent="-3429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r" latinLnBrk="1">
              <a:spcBef>
                <a:spcPct val="20000"/>
              </a:spcBef>
              <a:defRPr/>
            </a:pPr>
            <a:endParaRPr kumimoji="1" lang="ko-KR" altLang="en-US" sz="1400">
              <a:solidFill>
                <a:schemeClr val="tx1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graphicFrame>
        <p:nvGraphicFramePr>
          <p:cNvPr id="5" name="Group 522">
            <a:extLst>
              <a:ext uri="{FF2B5EF4-FFF2-40B4-BE49-F238E27FC236}">
                <a16:creationId xmlns:a16="http://schemas.microsoft.com/office/drawing/2014/main" id="{670ACF70-5478-40BB-B1F1-7E4381754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003682"/>
              </p:ext>
            </p:extLst>
          </p:nvPr>
        </p:nvGraphicFramePr>
        <p:xfrm>
          <a:off x="0" y="422275"/>
          <a:ext cx="9907588" cy="7848873"/>
        </p:xfrm>
        <a:graphic>
          <a:graphicData uri="http://schemas.openxmlformats.org/drawingml/2006/table">
            <a:tbl>
              <a:tblPr/>
              <a:tblGrid>
                <a:gridCol w="10180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62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7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81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71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7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26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7183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01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프로젝트 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시스템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화면명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버젼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V1.0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김승현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분류명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메인화면</a:t>
                      </a: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명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main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P.NO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작성날짜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2020.07.07</a:t>
                      </a:r>
                    </a:p>
                  </a:txBody>
                  <a:tcPr marL="91455" marR="91455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344">
                <a:tc rowSpan="2"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Description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8288">
                <a:tc gridSpan="6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Tabl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 별 메뉴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고객일때 보이는 뷰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SCM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회사임원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로그인 타입이 </a:t>
                      </a:r>
                      <a:r>
                        <a:rPr kumimoji="1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배송자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일 경우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        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모든 로그인 타입 공지사항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view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Formation</a:t>
                      </a:r>
                    </a:p>
                  </a:txBody>
                  <a:tcPr marL="100584" marR="100584"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19">
            <a:extLst>
              <a:ext uri="{FF2B5EF4-FFF2-40B4-BE49-F238E27FC236}">
                <a16:creationId xmlns:a16="http://schemas.microsoft.com/office/drawing/2014/main" id="{FD58B449-AA6B-4044-AB1A-8D064416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63264" y="6616700"/>
            <a:ext cx="381061" cy="2286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742950" indent="-28575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 marL="11430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 marL="16002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 marL="2057400" indent="-228600"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800">
                <a:solidFill>
                  <a:srgbClr val="A6A6A6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 eaLnBrk="1" latinLnBrk="1" hangingPunct="1"/>
            <a:r>
              <a:rPr kumimoji="1" lang="en-US" altLang="ko-KR" sz="900" b="1" dirty="0">
                <a:solidFill>
                  <a:schemeClr val="bg1"/>
                </a:solidFill>
                <a:latin typeface="굴림" panose="020B0600000101010101" pitchFamily="34" charset="-127"/>
                <a:ea typeface="굴림" panose="020B0600000101010101" pitchFamily="34" charset="-127"/>
              </a:rPr>
              <a:t>2</a:t>
            </a:r>
            <a:endParaRPr kumimoji="1" lang="en-US" altLang="ko-KR" sz="900" dirty="0">
              <a:solidFill>
                <a:schemeClr val="tx1"/>
              </a:solidFill>
              <a:latin typeface="굴림" panose="020B0600000101010101" pitchFamily="34" charset="-127"/>
              <a:ea typeface="굴림" panose="020B0600000101010101" pitchFamily="34" charset="-127"/>
            </a:endParaRP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33810810-80F1-4D63-9E27-F7F0B389F350}"/>
              </a:ext>
            </a:extLst>
          </p:cNvPr>
          <p:cNvSpPr txBox="1">
            <a:spLocks/>
          </p:cNvSpPr>
          <p:nvPr/>
        </p:nvSpPr>
        <p:spPr>
          <a:xfrm>
            <a:off x="180975" y="1588"/>
            <a:ext cx="3455988" cy="344487"/>
          </a:xfrm>
          <a:prstGeom prst="rect">
            <a:avLst/>
          </a:prstGeom>
        </p:spPr>
        <p:txBody>
          <a:bodyPr/>
          <a:lstStyle>
            <a:lvl1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2pPr>
            <a:lvl3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3pPr>
            <a:lvl4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4pPr>
            <a:lvl5pPr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5pPr>
            <a:lvl6pPr marL="25146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6pPr>
            <a:lvl7pPr marL="29718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7pPr>
            <a:lvl8pPr marL="34290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8pPr>
            <a:lvl9pPr marL="3886200" indent="-228600" algn="l" defTabSz="449263" rtl="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1600">
                <a:solidFill>
                  <a:srgbClr val="000000"/>
                </a:solidFill>
                <a:latin typeface="HY견고딕" panose="02030600000101010101" pitchFamily="18" charset="-127"/>
                <a:cs typeface="HY견고딕" panose="02030600000101010101" pitchFamily="18" charset="-127"/>
              </a:defRPr>
            </a:lvl9pPr>
          </a:lstStyle>
          <a:p>
            <a:r>
              <a:rPr lang="en-US" altLang="ko-KR"/>
              <a:t>SCM </a:t>
            </a:r>
            <a:r>
              <a:rPr lang="ko-KR" altLang="en-US"/>
              <a:t>시스템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F88A577-C660-4F92-BB1A-279C1446CA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546" y="1248564"/>
            <a:ext cx="6153583" cy="6858000"/>
          </a:xfrm>
          <a:prstGeom prst="rect">
            <a:avLst/>
          </a:prstGeom>
        </p:spPr>
      </p:pic>
      <p:sp>
        <p:nvSpPr>
          <p:cNvPr id="20" name="Oval 31">
            <a:extLst>
              <a:ext uri="{FF2B5EF4-FFF2-40B4-BE49-F238E27FC236}">
                <a16:creationId xmlns:a16="http://schemas.microsoft.com/office/drawing/2014/main" id="{CB147175-D260-455A-BEC2-D20551E6B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225" y="169165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1</a:t>
            </a:r>
          </a:p>
        </p:txBody>
      </p:sp>
      <p:sp>
        <p:nvSpPr>
          <p:cNvPr id="21" name="Oval 31">
            <a:extLst>
              <a:ext uri="{FF2B5EF4-FFF2-40B4-BE49-F238E27FC236}">
                <a16:creationId xmlns:a16="http://schemas.microsoft.com/office/drawing/2014/main" id="{F47EC991-D1CD-4D5F-9A82-557019728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322" y="183200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2</a:t>
            </a:r>
          </a:p>
        </p:txBody>
      </p:sp>
      <p:sp>
        <p:nvSpPr>
          <p:cNvPr id="24" name="Oval 31">
            <a:extLst>
              <a:ext uri="{FF2B5EF4-FFF2-40B4-BE49-F238E27FC236}">
                <a16:creationId xmlns:a16="http://schemas.microsoft.com/office/drawing/2014/main" id="{58564324-15F7-427D-9935-1F7A86CCEF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2372" y="3068960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3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4987061-7F7A-421C-8856-262486B859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4533101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4</a:t>
            </a:r>
          </a:p>
        </p:txBody>
      </p:sp>
      <p:sp>
        <p:nvSpPr>
          <p:cNvPr id="37" name="Oval 31">
            <a:extLst>
              <a:ext uri="{FF2B5EF4-FFF2-40B4-BE49-F238E27FC236}">
                <a16:creationId xmlns:a16="http://schemas.microsoft.com/office/drawing/2014/main" id="{D63ADB85-3029-4E6C-84C0-0A70217666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9004" y="5187146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5</a:t>
            </a:r>
          </a:p>
        </p:txBody>
      </p:sp>
      <p:sp>
        <p:nvSpPr>
          <p:cNvPr id="38" name="Oval 31">
            <a:extLst>
              <a:ext uri="{FF2B5EF4-FFF2-40B4-BE49-F238E27FC236}">
                <a16:creationId xmlns:a16="http://schemas.microsoft.com/office/drawing/2014/main" id="{972B9363-5C44-423E-862A-E7AB125E15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8158" y="6237312"/>
            <a:ext cx="215900" cy="144463"/>
          </a:xfrm>
          <a:prstGeom prst="ellipse">
            <a:avLst/>
          </a:prstGeom>
          <a:solidFill>
            <a:srgbClr val="BBE0E3"/>
          </a:solidFill>
          <a:ln w="25560" cap="sq">
            <a:solidFill>
              <a:srgbClr val="89A4A7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800">
                <a:solidFill>
                  <a:schemeClr val="bg1"/>
                </a:solidFill>
                <a:latin typeface="맑은 고딕" panose="020B0503020000020004" pitchFamily="34" charset="-127"/>
                <a:ea typeface="맑은 고딕" panose="020B0503020000020004" pitchFamily="34" charset="-127"/>
              </a:defRPr>
            </a:lvl9pPr>
          </a:lstStyle>
          <a:p>
            <a:pPr algn="ctr">
              <a:buClrTx/>
              <a:buFontTx/>
              <a:buNone/>
            </a:pPr>
            <a:r>
              <a:rPr lang="en-US" altLang="ko-KR" dirty="0">
                <a:solidFill>
                  <a:srgbClr val="FF0000"/>
                </a:solidFill>
                <a:latin typeface="Lucida Sans" panose="020B0602030504020204" pitchFamily="34" charset="0"/>
              </a:rPr>
              <a:t>6</a:t>
            </a:r>
          </a:p>
        </p:txBody>
      </p:sp>
      <p:grpSp>
        <p:nvGrpSpPr>
          <p:cNvPr id="7" name="그룹 40">
            <a:extLst>
              <a:ext uri="{FF2B5EF4-FFF2-40B4-BE49-F238E27FC236}">
                <a16:creationId xmlns:a16="http://schemas.microsoft.com/office/drawing/2014/main" id="{9B3B9D02-E283-4263-A05E-C83212A6D6D7}"/>
              </a:ext>
            </a:extLst>
          </p:cNvPr>
          <p:cNvGrpSpPr/>
          <p:nvPr/>
        </p:nvGrpSpPr>
        <p:grpSpPr>
          <a:xfrm>
            <a:off x="7358463" y="1248564"/>
            <a:ext cx="2522705" cy="3655953"/>
            <a:chOff x="10066361" y="1944946"/>
            <a:chExt cx="2522705" cy="3655953"/>
          </a:xfrm>
        </p:grpSpPr>
        <p:sp>
          <p:nvSpPr>
            <p:cNvPr id="42" name="Rectangle 6">
              <a:extLst>
                <a:ext uri="{FF2B5EF4-FFF2-40B4-BE49-F238E27FC236}">
                  <a16:creationId xmlns:a16="http://schemas.microsoft.com/office/drawing/2014/main" id="{3931DDA8-C4A5-4C52-917B-7AEB4B3005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3702393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4</a:t>
              </a:r>
            </a:p>
          </p:txBody>
        </p:sp>
        <p:sp>
          <p:nvSpPr>
            <p:cNvPr id="43" name="Rectangle 6">
              <a:extLst>
                <a:ext uri="{FF2B5EF4-FFF2-40B4-BE49-F238E27FC236}">
                  <a16:creationId xmlns:a16="http://schemas.microsoft.com/office/drawing/2014/main" id="{202178AB-42EA-4080-9F22-A932BBD6EB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0444" y="4327946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5</a:t>
              </a:r>
            </a:p>
          </p:txBody>
        </p:sp>
        <p:sp>
          <p:nvSpPr>
            <p:cNvPr id="44" name="Rectangle 6">
              <a:extLst>
                <a:ext uri="{FF2B5EF4-FFF2-40B4-BE49-F238E27FC236}">
                  <a16:creationId xmlns:a16="http://schemas.microsoft.com/office/drawing/2014/main" id="{27A12BA0-28DE-4740-BFD0-97BC10C1F5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66471" y="4966110"/>
              <a:ext cx="267217" cy="634789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6</a:t>
              </a:r>
            </a:p>
          </p:txBody>
        </p:sp>
        <p:sp>
          <p:nvSpPr>
            <p:cNvPr id="45" name="Line 10">
              <a:extLst>
                <a:ext uri="{FF2B5EF4-FFF2-40B4-BE49-F238E27FC236}">
                  <a16:creationId xmlns:a16="http://schemas.microsoft.com/office/drawing/2014/main" id="{2223EFBD-EBE2-41B8-A1F6-CB8411938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1956026"/>
              <a:ext cx="6563" cy="3642547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  <p:sp>
          <p:nvSpPr>
            <p:cNvPr id="46" name="Rectangle 4">
              <a:extLst>
                <a:ext uri="{FF2B5EF4-FFF2-40B4-BE49-F238E27FC236}">
                  <a16:creationId xmlns:a16="http://schemas.microsoft.com/office/drawing/2014/main" id="{D2DA495C-0D87-4D00-A6E2-0E6075AEB0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74513" y="1944946"/>
              <a:ext cx="252625" cy="601663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1</a:t>
              </a:r>
            </a:p>
          </p:txBody>
        </p:sp>
        <p:sp>
          <p:nvSpPr>
            <p:cNvPr id="47" name="Rectangle 6">
              <a:extLst>
                <a:ext uri="{FF2B5EF4-FFF2-40B4-BE49-F238E27FC236}">
                  <a16:creationId xmlns:a16="http://schemas.microsoft.com/office/drawing/2014/main" id="{F8FA0349-E85C-4E59-A36A-D5370BC7DE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2560016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2</a:t>
              </a:r>
            </a:p>
          </p:txBody>
        </p:sp>
        <p:sp>
          <p:nvSpPr>
            <p:cNvPr id="48" name="Line 9">
              <a:extLst>
                <a:ext uri="{FF2B5EF4-FFF2-40B4-BE49-F238E27FC236}">
                  <a16:creationId xmlns:a16="http://schemas.microsoft.com/office/drawing/2014/main" id="{BE956A14-93E7-4B89-AC38-3AF9D42284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2559277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49" name="Rectangle 6">
              <a:extLst>
                <a:ext uri="{FF2B5EF4-FFF2-40B4-BE49-F238E27FC236}">
                  <a16:creationId xmlns:a16="http://schemas.microsoft.com/office/drawing/2014/main" id="{E6300F16-FADD-4861-9586-8B8C7B0359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88753" y="3102232"/>
              <a:ext cx="252625" cy="577850"/>
            </a:xfrm>
            <a:prstGeom prst="rect">
              <a:avLst/>
            </a:prstGeom>
            <a:solidFill>
              <a:srgbClr val="EAEAEA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rIns="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5pPr>
              <a:lvl6pPr marL="25146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6pPr>
              <a:lvl7pPr marL="29718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7pPr>
              <a:lvl8pPr marL="34290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8pPr>
              <a:lvl9pPr marL="3886200" indent="-228600"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800">
                  <a:solidFill>
                    <a:schemeClr val="bg1"/>
                  </a:solidFill>
                  <a:latin typeface="맑은 고딕" panose="020B0503020000020004" pitchFamily="34" charset="-127"/>
                  <a:ea typeface="맑은 고딕" panose="020B0503020000020004" pitchFamily="34" charset="-127"/>
                </a:defRPr>
              </a:lvl9pPr>
            </a:lstStyle>
            <a:p>
              <a:pPr algn="ctr" eaLnBrk="1" hangingPunct="1">
                <a:spcBef>
                  <a:spcPts val="200"/>
                </a:spcBef>
                <a:buClrTx/>
                <a:buFontTx/>
                <a:buNone/>
              </a:pPr>
              <a:r>
                <a:rPr lang="en-US" altLang="ko-KR" dirty="0">
                  <a:solidFill>
                    <a:srgbClr val="000000"/>
                  </a:solidFill>
                </a:rPr>
                <a:t>3</a:t>
              </a:r>
            </a:p>
          </p:txBody>
        </p:sp>
        <p:sp>
          <p:nvSpPr>
            <p:cNvPr id="50" name="Line 9">
              <a:extLst>
                <a:ext uri="{FF2B5EF4-FFF2-40B4-BE49-F238E27FC236}">
                  <a16:creationId xmlns:a16="http://schemas.microsoft.com/office/drawing/2014/main" id="{C0C8B30E-7105-4FC9-B667-0FC3F1F35F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102232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1" name="Line 13">
              <a:extLst>
                <a:ext uri="{FF2B5EF4-FFF2-40B4-BE49-F238E27FC236}">
                  <a16:creationId xmlns:a16="http://schemas.microsoft.com/office/drawing/2014/main" id="{4959DF77-834D-41B5-8DE2-ACAA27FC08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3" y="3681670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2" name="Line 13">
              <a:extLst>
                <a:ext uri="{FF2B5EF4-FFF2-40B4-BE49-F238E27FC236}">
                  <a16:creationId xmlns:a16="http://schemas.microsoft.com/office/drawing/2014/main" id="{80376EB1-CB07-44F7-B439-97874338B5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2" y="4926011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3" name="Line 13">
              <a:extLst>
                <a:ext uri="{FF2B5EF4-FFF2-40B4-BE49-F238E27FC236}">
                  <a16:creationId xmlns:a16="http://schemas.microsoft.com/office/drawing/2014/main" id="{C85FABA1-E911-4EDE-A6D5-10DD18736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8753" y="5598573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4" name="Line 13">
              <a:extLst>
                <a:ext uri="{FF2B5EF4-FFF2-40B4-BE49-F238E27FC236}">
                  <a16:creationId xmlns:a16="http://schemas.microsoft.com/office/drawing/2014/main" id="{95DBFB9C-EEF8-412F-981B-9430FBF798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74514" y="4297480"/>
              <a:ext cx="2500314" cy="4513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5" name="Line 8">
              <a:extLst>
                <a:ext uri="{FF2B5EF4-FFF2-40B4-BE49-F238E27FC236}">
                  <a16:creationId xmlns:a16="http://schemas.microsoft.com/office/drawing/2014/main" id="{145895AD-5D51-4D07-9056-2EC1109D3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328725" y="1956025"/>
              <a:ext cx="12653" cy="364371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 dirty="0"/>
            </a:p>
          </p:txBody>
        </p:sp>
        <p:sp>
          <p:nvSpPr>
            <p:cNvPr id="56" name="Line 12">
              <a:extLst>
                <a:ext uri="{FF2B5EF4-FFF2-40B4-BE49-F238E27FC236}">
                  <a16:creationId xmlns:a16="http://schemas.microsoft.com/office/drawing/2014/main" id="{890A03D1-CCDA-48E3-B8D2-2F3547C521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66361" y="1947785"/>
              <a:ext cx="2500313" cy="0"/>
            </a:xfrm>
            <a:prstGeom prst="line">
              <a:avLst/>
            </a:prstGeom>
            <a:noFill/>
            <a:ln w="12600" cap="sq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81228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HY견고딕"/>
        <a:ea typeface=""/>
        <a:cs typeface="HY견고딕"/>
      </a:majorFont>
      <a:minorFont>
        <a:latin typeface="HY견고딕"/>
        <a:ea typeface=""/>
        <a:cs typeface="HY견고딕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600" cap="sq">
          <a:solidFill>
            <a:srgbClr val="000000"/>
          </a:solidFill>
          <a:miter/>
        </a:ln>
        <a:effectLst/>
      </a:spPr>
      <a:bodyPr/>
      <a:lstStyle>
        <a:defPPr>
          <a:defRPr/>
        </a:defPPr>
      </a:lstStyle>
    </a:spDef>
    <a:lnDef>
      <a:spPr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/>
          <a:buNone/>
          <a:defRPr kumimoji="0" lang="en-GB" altLang="ko-KR" sz="800" b="0" i="0" u="none" strike="noStrike" cap="none" normalizeH="0" baseline="0" smtClean="0">
            <a:solidFill>
              <a:schemeClr val="bg1"/>
            </a:solidFill>
            <a:effectLst/>
            <a:latin typeface="맑은 고딕"/>
            <a:ea typeface="맑은 고딕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EZ사업부 템플릿">
  <a:themeElements>
    <a:clrScheme name="JustSELL문서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보자기">
      <a:maj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HY견고딕"/>
        <a:font script="Hans" typeface="华文楷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Lucida Sans"/>
        <a:ea typeface=""/>
        <a:cs typeface=""/>
        <a:font script="Grek" typeface="Arial"/>
        <a:font script="Cyrl" typeface="Arial"/>
        <a:font script="Jpan" typeface="HGP明朝E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dirty="0"/>
        </a:defPPr>
      </a:lstStyle>
    </a:txDef>
  </a:objectDefaults>
  <a:extraClrSchemeLst>
    <a:extraClrScheme>
      <a:clrScheme name="JustSELL문서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JustSELL문서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JustSELL문서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2328</Words>
  <Application>Microsoft Office PowerPoint</Application>
  <PresentationFormat>사용자 지정</PresentationFormat>
  <Paragraphs>911</Paragraphs>
  <Slides>31</Slides>
  <Notes>20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41" baseType="lpstr">
      <vt:lpstr>HY견고딕</vt:lpstr>
      <vt:lpstr>HY울릉도M</vt:lpstr>
      <vt:lpstr>HY헤드라인M</vt:lpstr>
      <vt:lpstr>굴림</vt:lpstr>
      <vt:lpstr>맑은 고딕</vt:lpstr>
      <vt:lpstr>Arial</vt:lpstr>
      <vt:lpstr>Lucida Sans</vt:lpstr>
      <vt:lpstr>Times New Roman</vt:lpstr>
      <vt:lpstr>Office 테마</vt:lpstr>
      <vt:lpstr>EZ사업부 템플릿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HACCP 관리시스템    화면사양서</dc:title>
  <dc:creator>김철민</dc:creator>
  <cp:lastModifiedBy>HyeonGi</cp:lastModifiedBy>
  <cp:revision>846</cp:revision>
  <dcterms:created xsi:type="dcterms:W3CDTF">2008-10-14T05:47:18Z</dcterms:created>
  <dcterms:modified xsi:type="dcterms:W3CDTF">2022-03-24T02:51:48Z</dcterms:modified>
  <cp:version/>
</cp:coreProperties>
</file>